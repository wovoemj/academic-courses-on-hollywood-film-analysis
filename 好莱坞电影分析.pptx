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325" r:id="rId4"/>
    <p:sldId id="261" r:id="rId6"/>
    <p:sldId id="271" r:id="rId7"/>
    <p:sldId id="262" r:id="rId8"/>
    <p:sldId id="258" r:id="rId9"/>
    <p:sldId id="373" r:id="rId10"/>
    <p:sldId id="374" r:id="rId11"/>
    <p:sldId id="375" r:id="rId12"/>
    <p:sldId id="376" r:id="rId13"/>
  </p:sldIdLst>
  <p:sldSz cx="9144000" cy="5143500" type="screen16x9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 userDrawn="1">
          <p15:clr>
            <a:srgbClr val="A4A3A4"/>
          </p15:clr>
        </p15:guide>
        <p15:guide id="2" pos="2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73" autoAdjust="0"/>
  </p:normalViewPr>
  <p:slideViewPr>
    <p:cSldViewPr showGuides="1">
      <p:cViewPr varScale="1">
        <p:scale>
          <a:sx n="138" d="100"/>
          <a:sy n="138" d="100"/>
        </p:scale>
        <p:origin x="834" y="114"/>
      </p:cViewPr>
      <p:guideLst>
        <p:guide orient="horz" pos="1622"/>
        <p:guide pos="28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4" d="100"/>
        <a:sy n="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4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05D9D-C69C-4401-9F91-BB6A259297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4E991-43C1-4F23-B13D-1A87AE7A51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4E991-43C1-4F23-B13D-1A87AE7A51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CEF729BD-0B61-40F7-9C2B-A3EB91A33A23}" type="slidenum">
              <a:rPr lang="zh-CN" altLang="en-US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88D2A-ED99-4DC2-9DFC-DAB6C4E2FE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94E991-43C1-4F23-B13D-1A87AE7A51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72508"/>
            <a:ext cx="2133600" cy="273844"/>
          </a:xfrm>
        </p:spPr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86690" y="4772508"/>
            <a:ext cx="2895600" cy="273844"/>
          </a:xfrm>
        </p:spPr>
        <p:txBody>
          <a:bodyPr vert="horz" lIns="76618" tIns="38309" rIns="76618" bIns="38309" rtlCol="0" anchor="ctr"/>
          <a:lstStyle>
            <a:lvl1pPr>
              <a:defRPr lang="en-US" altLang="zh-CN" smtClean="0">
                <a:solidFill>
                  <a:prstClr val="white">
                    <a:lumMod val="65000"/>
                  </a:prstClr>
                </a:solidFill>
                <a:latin typeface="Calibri" panose="020F0502020204030204"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948573" y="4763842"/>
            <a:ext cx="1388046" cy="282500"/>
          </a:xfrm>
        </p:spPr>
        <p:txBody>
          <a:bodyPr vert="horz" lIns="102156" tIns="51076" rIns="102156" bIns="51076" rtlCol="0" anchor="ctr"/>
          <a:lstStyle>
            <a:lvl1pPr algn="r">
              <a:defRPr lang="zh-CN" altLang="en-US" smtClean="0"/>
            </a:lvl1pPr>
          </a:lstStyle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11000">
        <p14:warp dir="in"/>
      </p:transition>
    </mc:Choice>
    <mc:Fallback>
      <p:transition spd="slow" advTm="1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6977" y="267494"/>
            <a:ext cx="5897272" cy="330507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2200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514350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91015"/>
            <a:ext cx="2895600" cy="273844"/>
          </a:xfrm>
        </p:spPr>
        <p:txBody>
          <a:bodyPr/>
          <a:lstStyle>
            <a:lvl1pPr>
              <a:defRPr sz="105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452320" y="4787497"/>
            <a:ext cx="1224136" cy="304675"/>
          </a:xfrm>
        </p:spPr>
        <p:txBody>
          <a:bodyPr/>
          <a:lstStyle>
            <a:lvl1pPr algn="ctr">
              <a:defRPr sz="1400">
                <a:latin typeface="Impact" panose="020B0806030902050204" pitchFamily="34" charset="0"/>
              </a:defRPr>
            </a:lvl1pPr>
          </a:lstStyle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953128" y="654062"/>
            <a:ext cx="7859428" cy="1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395576" y="248444"/>
            <a:ext cx="396000" cy="396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 advTm="8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907705" y="1349063"/>
            <a:ext cx="540060" cy="1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http://www.www.2ppt.com.com/hangye/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microsoft.com/office/2007/relationships/hdphoto" Target="../media/image3.wdp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102156" tIns="51076" rIns="102156" bIns="5107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63"/>
            <a:ext cx="8229600" cy="3394472"/>
          </a:xfrm>
          <a:prstGeom prst="rect">
            <a:avLst/>
          </a:prstGeom>
        </p:spPr>
        <p:txBody>
          <a:bodyPr vert="horz" lIns="102156" tIns="51076" rIns="102156" bIns="51076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0F2E2-BEC3-4731-9280-C0DEF30688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95465-9EF3-43A3-83EA-E9DA93E839F1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Picture 76"/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17111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  <p:txStyles>
    <p:titleStyle>
      <a:lvl1pPr algn="ctr" defTabSz="102298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540" indent="-3835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1215" indent="-3200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889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070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251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368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549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3730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4911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98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479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660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841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959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140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32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2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22.xml"/><Relationship Id="rId10" Type="http://schemas.openxmlformats.org/officeDocument/2006/relationships/image" Target="../media/image12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205560" y="3123771"/>
            <a:ext cx="6750815" cy="612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组员：王梦俊</a:t>
            </a:r>
            <a:r>
              <a:rPr lang="en-US" altLang="zh-CN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刘玉达</a:t>
            </a:r>
            <a:r>
              <a:rPr lang="en-US" altLang="zh-CN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刘守首</a:t>
            </a:r>
            <a:r>
              <a:rPr lang="en-US" altLang="zh-CN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王玉枝</a:t>
            </a:r>
            <a:r>
              <a:rPr lang="en-US" altLang="zh-CN">
                <a:cs typeface="+mn-ea"/>
                <a:sym typeface="+mn-lt"/>
              </a:rPr>
              <a:t> </a:t>
            </a:r>
            <a:r>
              <a:rPr lang="zh-CN" altLang="en-US">
                <a:cs typeface="+mn-ea"/>
                <a:sym typeface="+mn-lt"/>
              </a:rPr>
              <a:t>吴小贤</a:t>
            </a: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08145" y="4035487"/>
            <a:ext cx="3927710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75760" y="3896810"/>
            <a:ext cx="792480" cy="3371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第三组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-45524" y="163346"/>
            <a:ext cx="660073" cy="56902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695" y="915670"/>
            <a:ext cx="4529455" cy="17462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17000" kern="100">
                <a:blipFill>
                  <a:blip r:embed="rId1"/>
                  <a:stretch>
                    <a:fillRect/>
                  </a:stretch>
                </a:blipFill>
                <a:latin typeface="Impact" panose="020B0806030902050204" pitchFamily="34" charset="0"/>
                <a:ea typeface="华康简综艺" panose="02010609000101010101" pitchFamily="49" charset="-122"/>
              </a:defRPr>
            </a:lvl1pPr>
          </a:lstStyle>
          <a:p>
            <a:r>
              <a:rPr lang="zh-CN" altLang="en-US" sz="6000" spc="600" dirty="0">
                <a:sym typeface="+mn-lt"/>
              </a:rPr>
              <a:t>好莱坞电影分析</a:t>
            </a:r>
            <a:endParaRPr lang="zh-CN" altLang="en-US" sz="6000" spc="600" dirty="0"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bldLvl="0" animBg="1"/>
      <p:bldP spid="11" grpId="0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五角星 18"/>
          <p:cNvSpPr/>
          <p:nvPr>
            <p:custDataLst>
              <p:tags r:id="rId1"/>
            </p:custDataLst>
          </p:nvPr>
        </p:nvSpPr>
        <p:spPr>
          <a:xfrm rot="2314838">
            <a:off x="275590" y="710565"/>
            <a:ext cx="780415" cy="812800"/>
          </a:xfrm>
          <a:custGeom>
            <a:avLst/>
            <a:gdLst/>
            <a:ahLst/>
            <a:cxnLst/>
            <a:rect l="l" t="t" r="r" b="b"/>
            <a:pathLst>
              <a:path w="2146515" h="2179015">
                <a:moveTo>
                  <a:pt x="471122" y="237422"/>
                </a:moveTo>
                <a:lnTo>
                  <a:pt x="747200" y="241233"/>
                </a:lnTo>
                <a:lnTo>
                  <a:pt x="1073258" y="0"/>
                </a:lnTo>
                <a:lnTo>
                  <a:pt x="1393697" y="237076"/>
                </a:lnTo>
                <a:lnTo>
                  <a:pt x="1750864" y="225501"/>
                </a:lnTo>
                <a:lnTo>
                  <a:pt x="1842069" y="552087"/>
                </a:lnTo>
                <a:lnTo>
                  <a:pt x="2146515" y="756238"/>
                </a:lnTo>
                <a:lnTo>
                  <a:pt x="2015413" y="1118523"/>
                </a:lnTo>
                <a:lnTo>
                  <a:pt x="2117270" y="1425471"/>
                </a:lnTo>
                <a:lnTo>
                  <a:pt x="1851783" y="1606493"/>
                </a:lnTo>
                <a:lnTo>
                  <a:pt x="1736567" y="1979858"/>
                </a:lnTo>
                <a:lnTo>
                  <a:pt x="1341430" y="1970902"/>
                </a:lnTo>
                <a:lnTo>
                  <a:pt x="1063978" y="2179015"/>
                </a:lnTo>
                <a:lnTo>
                  <a:pt x="790207" y="1971239"/>
                </a:lnTo>
                <a:lnTo>
                  <a:pt x="409948" y="1979858"/>
                </a:lnTo>
                <a:lnTo>
                  <a:pt x="298033" y="1617190"/>
                </a:lnTo>
                <a:lnTo>
                  <a:pt x="46603" y="1444761"/>
                </a:lnTo>
                <a:lnTo>
                  <a:pt x="150057" y="1170905"/>
                </a:lnTo>
                <a:lnTo>
                  <a:pt x="0" y="756238"/>
                </a:lnTo>
                <a:lnTo>
                  <a:pt x="386524" y="4970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4B45"/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544830" y="843915"/>
            <a:ext cx="232410" cy="218440"/>
            <a:chOff x="1912141" y="1824035"/>
            <a:chExt cx="488159" cy="490540"/>
          </a:xfrm>
          <a:solidFill>
            <a:srgbClr val="FFFFFF"/>
          </a:solidFill>
        </p:grpSpPr>
        <p:sp>
          <p:nvSpPr>
            <p:cNvPr id="10" name="饼形 9"/>
            <p:cNvSpPr/>
            <p:nvPr>
              <p:custDataLst>
                <p:tags r:id="rId3"/>
              </p:custDataLst>
            </p:nvPr>
          </p:nvSpPr>
          <p:spPr>
            <a:xfrm>
              <a:off x="1912141" y="1847847"/>
              <a:ext cx="466728" cy="466728"/>
            </a:xfrm>
            <a:prstGeom prst="pie">
              <a:avLst>
                <a:gd name="adj1" fmla="val 2668795"/>
                <a:gd name="adj2" fmla="val 16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6777F"/>
                </a:solidFill>
                <a:cs typeface="+mn-ea"/>
                <a:sym typeface="+mn-lt"/>
              </a:endParaRPr>
            </a:p>
          </p:txBody>
        </p:sp>
        <p:sp>
          <p:nvSpPr>
            <p:cNvPr id="11" name="饼形 10"/>
            <p:cNvSpPr/>
            <p:nvPr>
              <p:custDataLst>
                <p:tags r:id="rId4"/>
              </p:custDataLst>
            </p:nvPr>
          </p:nvSpPr>
          <p:spPr>
            <a:xfrm>
              <a:off x="1933572" y="1824035"/>
              <a:ext cx="466728" cy="466728"/>
            </a:xfrm>
            <a:prstGeom prst="pie">
              <a:avLst>
                <a:gd name="adj1" fmla="val 16168367"/>
                <a:gd name="adj2" fmla="val 2159998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6777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TextBox 39"/>
          <p:cNvSpPr txBox="1"/>
          <p:nvPr>
            <p:custDataLst>
              <p:tags r:id="rId5"/>
            </p:custDataLst>
          </p:nvPr>
        </p:nvSpPr>
        <p:spPr>
          <a:xfrm>
            <a:off x="35280" y="1131449"/>
            <a:ext cx="1226863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F8F8F8"/>
                </a:solidFill>
                <a:cs typeface="+mn-ea"/>
                <a:sym typeface="+mn-lt"/>
              </a:rPr>
              <a:t>项目介绍</a:t>
            </a:r>
            <a:endParaRPr lang="zh-CN" altLang="en-US" sz="900" b="1" dirty="0">
              <a:solidFill>
                <a:srgbClr val="F8F8F8"/>
              </a:solidFill>
              <a:cs typeface="+mn-ea"/>
              <a:sym typeface="+mn-lt"/>
            </a:endParaRPr>
          </a:p>
        </p:txBody>
      </p:sp>
      <p:sp>
        <p:nvSpPr>
          <p:cNvPr id="13" name="五角星 18"/>
          <p:cNvSpPr/>
          <p:nvPr>
            <p:custDataLst>
              <p:tags r:id="rId6"/>
            </p:custDataLst>
          </p:nvPr>
        </p:nvSpPr>
        <p:spPr>
          <a:xfrm rot="2134838">
            <a:off x="3660775" y="668655"/>
            <a:ext cx="930275" cy="911225"/>
          </a:xfrm>
          <a:custGeom>
            <a:avLst/>
            <a:gdLst/>
            <a:ahLst/>
            <a:cxnLst/>
            <a:rect l="l" t="t" r="r" b="b"/>
            <a:pathLst>
              <a:path w="2146515" h="2179015">
                <a:moveTo>
                  <a:pt x="471122" y="237422"/>
                </a:moveTo>
                <a:lnTo>
                  <a:pt x="747200" y="241233"/>
                </a:lnTo>
                <a:lnTo>
                  <a:pt x="1073258" y="0"/>
                </a:lnTo>
                <a:lnTo>
                  <a:pt x="1393697" y="237076"/>
                </a:lnTo>
                <a:lnTo>
                  <a:pt x="1750864" y="225501"/>
                </a:lnTo>
                <a:lnTo>
                  <a:pt x="1842069" y="552087"/>
                </a:lnTo>
                <a:lnTo>
                  <a:pt x="2146515" y="756238"/>
                </a:lnTo>
                <a:lnTo>
                  <a:pt x="2015413" y="1118523"/>
                </a:lnTo>
                <a:lnTo>
                  <a:pt x="2117270" y="1425471"/>
                </a:lnTo>
                <a:lnTo>
                  <a:pt x="1851783" y="1606493"/>
                </a:lnTo>
                <a:lnTo>
                  <a:pt x="1736567" y="1979858"/>
                </a:lnTo>
                <a:lnTo>
                  <a:pt x="1341430" y="1970902"/>
                </a:lnTo>
                <a:lnTo>
                  <a:pt x="1063978" y="2179015"/>
                </a:lnTo>
                <a:lnTo>
                  <a:pt x="790207" y="1971239"/>
                </a:lnTo>
                <a:lnTo>
                  <a:pt x="409948" y="1979858"/>
                </a:lnTo>
                <a:lnTo>
                  <a:pt x="298033" y="1617190"/>
                </a:lnTo>
                <a:lnTo>
                  <a:pt x="46603" y="1444761"/>
                </a:lnTo>
                <a:lnTo>
                  <a:pt x="150057" y="1170905"/>
                </a:lnTo>
                <a:lnTo>
                  <a:pt x="0" y="756238"/>
                </a:lnTo>
                <a:lnTo>
                  <a:pt x="386524" y="49704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4B45"/>
              </a:solidFill>
              <a:cs typeface="+mn-ea"/>
              <a:sym typeface="+mn-lt"/>
            </a:endParaRPr>
          </a:p>
        </p:txBody>
      </p:sp>
      <p:sp>
        <p:nvSpPr>
          <p:cNvPr id="14" name="TextBox 41"/>
          <p:cNvSpPr txBox="1"/>
          <p:nvPr>
            <p:custDataLst>
              <p:tags r:id="rId7"/>
            </p:custDataLst>
          </p:nvPr>
        </p:nvSpPr>
        <p:spPr>
          <a:xfrm>
            <a:off x="3707765" y="1092200"/>
            <a:ext cx="844550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F8F8F8"/>
                </a:solidFill>
                <a:cs typeface="+mn-ea"/>
                <a:sym typeface="+mn-lt"/>
              </a:rPr>
              <a:t>项目使用和技术</a:t>
            </a:r>
            <a:endParaRPr lang="zh-CN" altLang="en-US" sz="900" b="1" dirty="0">
              <a:solidFill>
                <a:srgbClr val="F8F8F8"/>
              </a:solidFill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3995420" y="867410"/>
            <a:ext cx="283210" cy="182245"/>
            <a:chOff x="2409665" y="939861"/>
            <a:chExt cx="5638961" cy="3959164"/>
          </a:xfrm>
          <a:solidFill>
            <a:schemeClr val="bg2">
              <a:lumMod val="50000"/>
            </a:schemeClr>
          </a:solidFill>
        </p:grpSpPr>
        <p:sp>
          <p:nvSpPr>
            <p:cNvPr id="16" name="流程图: 联系 2"/>
            <p:cNvSpPr/>
            <p:nvPr>
              <p:custDataLst>
                <p:tags r:id="rId9"/>
              </p:custDataLst>
            </p:nvPr>
          </p:nvSpPr>
          <p:spPr>
            <a:xfrm>
              <a:off x="3884040" y="1024462"/>
              <a:ext cx="2680685" cy="3874563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  <a:cs typeface="+mn-ea"/>
                <a:sym typeface="+mn-lt"/>
              </a:endParaRPr>
            </a:p>
          </p:txBody>
        </p:sp>
        <p:sp>
          <p:nvSpPr>
            <p:cNvPr id="17" name="流程图: 联系 2"/>
            <p:cNvSpPr/>
            <p:nvPr>
              <p:custDataLst>
                <p:tags r:id="rId10"/>
              </p:custDataLst>
            </p:nvPr>
          </p:nvSpPr>
          <p:spPr>
            <a:xfrm>
              <a:off x="2409665" y="939861"/>
              <a:ext cx="1914686" cy="2767416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  <a:cs typeface="+mn-ea"/>
                <a:sym typeface="+mn-lt"/>
              </a:endParaRPr>
            </a:p>
          </p:txBody>
        </p:sp>
        <p:sp>
          <p:nvSpPr>
            <p:cNvPr id="18" name="流程图: 联系 2"/>
            <p:cNvSpPr/>
            <p:nvPr>
              <p:custDataLst>
                <p:tags r:id="rId11"/>
              </p:custDataLst>
            </p:nvPr>
          </p:nvSpPr>
          <p:spPr>
            <a:xfrm>
              <a:off x="6133940" y="939861"/>
              <a:ext cx="1914686" cy="2767416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一、项目介绍及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使用技术</a:t>
            </a:r>
            <a:endParaRPr lang="zh-CN" altLang="en-US" dirty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0585" y="1461135"/>
            <a:ext cx="3048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本项目以</a:t>
            </a:r>
            <a:r>
              <a:rPr lang="en-US" altLang="zh-CN" sz="1200"/>
              <a:t> Kaggle </a:t>
            </a:r>
            <a:r>
              <a:rPr lang="zh-CN" altLang="en-US" sz="1200"/>
              <a:t>平台的</a:t>
            </a:r>
            <a:r>
              <a:rPr lang="en-US" altLang="zh-CN" sz="1200"/>
              <a:t> “TMDB 5000 Movie Dataset” </a:t>
            </a:r>
            <a:r>
              <a:rPr lang="zh-CN" altLang="en-US" sz="1200"/>
              <a:t>为核心数据来源，该数据集包含约</a:t>
            </a:r>
            <a:r>
              <a:rPr lang="en-US" altLang="zh-CN" sz="1200"/>
              <a:t> 5000 </a:t>
            </a:r>
            <a:r>
              <a:rPr lang="zh-CN" altLang="en-US" sz="1200"/>
              <a:t>部电影的多维度信息，如预算、票房、评分、类型、关键词、演员及导演等，项目通过数据获取、清洗、特征工程、多维度分析与可视化，挖掘电影行业关键规律，为影视行业投资决策、内容创作提供数据支撑。项目核心目标包括：分析</a:t>
            </a:r>
            <a:r>
              <a:rPr lang="en-US" altLang="zh-CN" sz="1200"/>
              <a:t> 1970-2017 </a:t>
            </a:r>
            <a:r>
              <a:rPr lang="zh-CN" altLang="en-US" sz="1200"/>
              <a:t>年电影行业宏观趋势、探究预算与票房的相关性、统计最流行电影类型、评估顶级导演商业价值，最终以直观可视化图表呈现分析结论。</a:t>
            </a:r>
            <a:endParaRPr lang="zh-CN" altLang="en-US" sz="1200"/>
          </a:p>
        </p:txBody>
      </p:sp>
      <p:graphicFrame>
        <p:nvGraphicFramePr>
          <p:cNvPr id="12" name="表格 11"/>
          <p:cNvGraphicFramePr/>
          <p:nvPr>
            <p:custDataLst>
              <p:tags r:id="rId12"/>
            </p:custDataLst>
          </p:nvPr>
        </p:nvGraphicFramePr>
        <p:xfrm>
          <a:off x="4627097" y="643340"/>
          <a:ext cx="4300855" cy="4274820"/>
        </p:xfrm>
        <a:graphic>
          <a:graphicData uri="http://schemas.openxmlformats.org/drawingml/2006/table">
            <a:tbl>
              <a:tblPr/>
              <a:tblGrid>
                <a:gridCol w="812165"/>
                <a:gridCol w="1427480"/>
                <a:gridCol w="2061210"/>
              </a:tblGrid>
              <a:tr h="2133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技术类别</a:t>
                      </a:r>
                      <a:endParaRPr lang="zh-CN" altLang="en-US" sz="1100" b="1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具体工具</a:t>
                      </a:r>
                      <a:r>
                        <a:rPr lang="en-US" altLang="zh-CN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 </a:t>
                      </a:r>
                      <a:r>
                        <a:rPr lang="zh-CN" altLang="en-US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库</a:t>
                      </a:r>
                      <a:r>
                        <a:rPr lang="en-US" altLang="zh-CN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 </a:t>
                      </a:r>
                      <a:r>
                        <a:rPr lang="zh-CN" altLang="en-US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环境</a:t>
                      </a:r>
                      <a:endParaRPr lang="zh-CN" altLang="en-US" sz="1100" b="1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用途说明</a:t>
                      </a:r>
                      <a:endParaRPr lang="zh-CN" altLang="en-US" sz="1100" b="1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Windows 10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支持跨平台开发，兼容数据处理与可视化工具运行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开发语言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3.11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实现项目全流程逻辑，包括数据加载、清洗、分析与图表生成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94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数据处理库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Pandas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加载电影基础信息表（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tmdb_5000_movies.csv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）与演职人员表（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tmdb_5000_credits.csv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），合并数据集、处理缺失值、提取年份特征、分组统计数据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60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数值计算库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处理数值型数据（如将预算 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票房中的 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值替换为 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NaN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），支持统计指标计算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可视化库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Matplotlib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绘制 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1970-2017 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年电影数量趋势折线图、预算与票房相关性散点图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可视化库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Seaborn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优化图表样式，绘制最流行电影类型条形图、顶级导演平均票房排名图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60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数据解析库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ast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 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格式字段（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genres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keywords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cast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crew</a:t>
                      </a: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）为可读列表，提取导演信息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开发工具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PyCharm 2024.1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编写、调试代码，管理项目依赖库，确保代码运行稳定性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数据查看工具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 2021</a:t>
                      </a:r>
                      <a:endParaRPr lang="en-US" altLang="zh-CN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辅助预览数据集结构，快速定位缺失值与异常数据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6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  <p:bldP spid="13" grpId="0" bldLvl="0" animBg="1"/>
      <p:bldP spid="14" grpId="0"/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39"/>
          <p:cNvSpPr>
            <a:spLocks noEditPoints="1" noChangeArrowheads="1"/>
          </p:cNvSpPr>
          <p:nvPr/>
        </p:nvSpPr>
        <p:spPr bwMode="auto">
          <a:xfrm>
            <a:off x="709930" y="1275715"/>
            <a:ext cx="789305" cy="754380"/>
          </a:xfrm>
          <a:custGeom>
            <a:avLst/>
            <a:gdLst>
              <a:gd name="T0" fmla="*/ 2147483646 w 2116"/>
              <a:gd name="T1" fmla="*/ 1262169863 h 2116"/>
              <a:gd name="T2" fmla="*/ 2147483646 w 2116"/>
              <a:gd name="T3" fmla="*/ 1059407178 h 2116"/>
              <a:gd name="T4" fmla="*/ 2147483646 w 2116"/>
              <a:gd name="T5" fmla="*/ 782257393 h 2116"/>
              <a:gd name="T6" fmla="*/ 2147483646 w 2116"/>
              <a:gd name="T7" fmla="*/ 683875654 h 2116"/>
              <a:gd name="T8" fmla="*/ 2147483646 w 2116"/>
              <a:gd name="T9" fmla="*/ 365933012 h 2116"/>
              <a:gd name="T10" fmla="*/ 1857261195 w 2116"/>
              <a:gd name="T11" fmla="*/ 385130037 h 2116"/>
              <a:gd name="T12" fmla="*/ 1756479555 w 2116"/>
              <a:gd name="T13" fmla="*/ 95982932 h 2116"/>
              <a:gd name="T14" fmla="*/ 1480530267 w 2116"/>
              <a:gd name="T15" fmla="*/ 229158320 h 2116"/>
              <a:gd name="T16" fmla="*/ 1262169863 w 2116"/>
              <a:gd name="T17" fmla="*/ 0 h 2116"/>
              <a:gd name="T18" fmla="*/ 1060606582 w 2116"/>
              <a:gd name="T19" fmla="*/ 229158320 h 2116"/>
              <a:gd name="T20" fmla="*/ 783456796 w 2116"/>
              <a:gd name="T21" fmla="*/ 93583030 h 2116"/>
              <a:gd name="T22" fmla="*/ 683875654 w 2116"/>
              <a:gd name="T23" fmla="*/ 385130037 h 2116"/>
              <a:gd name="T24" fmla="*/ 365933012 w 2116"/>
              <a:gd name="T25" fmla="*/ 376730928 h 2116"/>
              <a:gd name="T26" fmla="*/ 386329440 w 2116"/>
              <a:gd name="T27" fmla="*/ 681475752 h 2116"/>
              <a:gd name="T28" fmla="*/ 97182336 w 2116"/>
              <a:gd name="T29" fmla="*/ 782257393 h 2116"/>
              <a:gd name="T30" fmla="*/ 230357723 w 2116"/>
              <a:gd name="T31" fmla="*/ 1058206680 h 2116"/>
              <a:gd name="T32" fmla="*/ 0 w 2116"/>
              <a:gd name="T33" fmla="*/ 1276567084 h 2116"/>
              <a:gd name="T34" fmla="*/ 229158320 w 2116"/>
              <a:gd name="T35" fmla="*/ 1479329769 h 2116"/>
              <a:gd name="T36" fmla="*/ 93583030 w 2116"/>
              <a:gd name="T37" fmla="*/ 1755280151 h 2116"/>
              <a:gd name="T38" fmla="*/ 385130037 w 2116"/>
              <a:gd name="T39" fmla="*/ 1854861293 h 2116"/>
              <a:gd name="T40" fmla="*/ 376730928 w 2116"/>
              <a:gd name="T41" fmla="*/ 2147483646 h 2116"/>
              <a:gd name="T42" fmla="*/ 682675155 w 2116"/>
              <a:gd name="T43" fmla="*/ 2147483646 h 2116"/>
              <a:gd name="T44" fmla="*/ 783456796 w 2116"/>
              <a:gd name="T45" fmla="*/ 2147483646 h 2116"/>
              <a:gd name="T46" fmla="*/ 1058206680 w 2116"/>
              <a:gd name="T47" fmla="*/ 2147483646 h 2116"/>
              <a:gd name="T48" fmla="*/ 1276567084 w 2116"/>
              <a:gd name="T49" fmla="*/ 2147483646 h 2116"/>
              <a:gd name="T50" fmla="*/ 1479329769 w 2116"/>
              <a:gd name="T51" fmla="*/ 2147483646 h 2116"/>
              <a:gd name="T52" fmla="*/ 1756479555 w 2116"/>
              <a:gd name="T53" fmla="*/ 2147483646 h 2116"/>
              <a:gd name="T54" fmla="*/ 1854861293 w 2116"/>
              <a:gd name="T55" fmla="*/ 2147483646 h 2116"/>
              <a:gd name="T56" fmla="*/ 2147483646 w 2116"/>
              <a:gd name="T57" fmla="*/ 2147483646 h 2116"/>
              <a:gd name="T58" fmla="*/ 2147483646 w 2116"/>
              <a:gd name="T59" fmla="*/ 1856061792 h 2116"/>
              <a:gd name="T60" fmla="*/ 2147483646 w 2116"/>
              <a:gd name="T61" fmla="*/ 1755280151 h 2116"/>
              <a:gd name="T62" fmla="*/ 2147483646 w 2116"/>
              <a:gd name="T63" fmla="*/ 1480530267 h 2116"/>
              <a:gd name="T64" fmla="*/ 1629302279 w 2116"/>
              <a:gd name="T65" fmla="*/ 2002434997 h 2116"/>
              <a:gd name="T66" fmla="*/ 910634072 w 2116"/>
              <a:gd name="T67" fmla="*/ 536301950 h 2116"/>
              <a:gd name="T68" fmla="*/ 1629302279 w 2116"/>
              <a:gd name="T69" fmla="*/ 2002434997 h 211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116"/>
              <a:gd name="T106" fmla="*/ 0 h 2116"/>
              <a:gd name="T107" fmla="*/ 2116 w 2116"/>
              <a:gd name="T108" fmla="*/ 2116 h 211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116" h="2116">
                <a:moveTo>
                  <a:pt x="1941" y="1111"/>
                </a:moveTo>
                <a:cubicBezTo>
                  <a:pt x="2116" y="1052"/>
                  <a:pt x="2116" y="1052"/>
                  <a:pt x="2116" y="1052"/>
                </a:cubicBezTo>
                <a:cubicBezTo>
                  <a:pt x="2107" y="917"/>
                  <a:pt x="2107" y="917"/>
                  <a:pt x="2107" y="917"/>
                </a:cubicBezTo>
                <a:cubicBezTo>
                  <a:pt x="1925" y="883"/>
                  <a:pt x="1925" y="883"/>
                  <a:pt x="1925" y="883"/>
                </a:cubicBezTo>
                <a:cubicBezTo>
                  <a:pt x="1918" y="847"/>
                  <a:pt x="1908" y="810"/>
                  <a:pt x="1896" y="774"/>
                </a:cubicBezTo>
                <a:cubicBezTo>
                  <a:pt x="2038" y="652"/>
                  <a:pt x="2038" y="652"/>
                  <a:pt x="2038" y="652"/>
                </a:cubicBezTo>
                <a:cubicBezTo>
                  <a:pt x="1979" y="532"/>
                  <a:pt x="1979" y="532"/>
                  <a:pt x="1979" y="532"/>
                </a:cubicBezTo>
                <a:cubicBezTo>
                  <a:pt x="1795" y="570"/>
                  <a:pt x="1795" y="570"/>
                  <a:pt x="1795" y="570"/>
                </a:cubicBezTo>
                <a:cubicBezTo>
                  <a:pt x="1772" y="535"/>
                  <a:pt x="1747" y="502"/>
                  <a:pt x="1720" y="471"/>
                </a:cubicBezTo>
                <a:cubicBezTo>
                  <a:pt x="1802" y="305"/>
                  <a:pt x="1802" y="305"/>
                  <a:pt x="1802" y="305"/>
                </a:cubicBezTo>
                <a:cubicBezTo>
                  <a:pt x="1700" y="217"/>
                  <a:pt x="1700" y="217"/>
                  <a:pt x="1700" y="217"/>
                </a:cubicBezTo>
                <a:cubicBezTo>
                  <a:pt x="1548" y="321"/>
                  <a:pt x="1548" y="321"/>
                  <a:pt x="1548" y="321"/>
                </a:cubicBezTo>
                <a:cubicBezTo>
                  <a:pt x="1516" y="301"/>
                  <a:pt x="1483" y="282"/>
                  <a:pt x="1450" y="265"/>
                </a:cubicBezTo>
                <a:cubicBezTo>
                  <a:pt x="1464" y="80"/>
                  <a:pt x="1464" y="80"/>
                  <a:pt x="1464" y="80"/>
                </a:cubicBezTo>
                <a:cubicBezTo>
                  <a:pt x="1336" y="37"/>
                  <a:pt x="1336" y="37"/>
                  <a:pt x="1336" y="37"/>
                </a:cubicBezTo>
                <a:cubicBezTo>
                  <a:pt x="1234" y="191"/>
                  <a:pt x="1234" y="191"/>
                  <a:pt x="1234" y="191"/>
                </a:cubicBezTo>
                <a:cubicBezTo>
                  <a:pt x="1194" y="183"/>
                  <a:pt x="1152" y="178"/>
                  <a:pt x="1111" y="175"/>
                </a:cubicBezTo>
                <a:cubicBezTo>
                  <a:pt x="1052" y="0"/>
                  <a:pt x="1052" y="0"/>
                  <a:pt x="1052" y="0"/>
                </a:cubicBezTo>
                <a:cubicBezTo>
                  <a:pt x="918" y="9"/>
                  <a:pt x="918" y="9"/>
                  <a:pt x="918" y="9"/>
                </a:cubicBezTo>
                <a:cubicBezTo>
                  <a:pt x="884" y="191"/>
                  <a:pt x="884" y="191"/>
                  <a:pt x="884" y="191"/>
                </a:cubicBezTo>
                <a:cubicBezTo>
                  <a:pt x="847" y="198"/>
                  <a:pt x="810" y="208"/>
                  <a:pt x="774" y="220"/>
                </a:cubicBezTo>
                <a:cubicBezTo>
                  <a:pt x="653" y="78"/>
                  <a:pt x="653" y="78"/>
                  <a:pt x="653" y="78"/>
                </a:cubicBezTo>
                <a:cubicBezTo>
                  <a:pt x="532" y="137"/>
                  <a:pt x="532" y="137"/>
                  <a:pt x="532" y="137"/>
                </a:cubicBezTo>
                <a:cubicBezTo>
                  <a:pt x="570" y="321"/>
                  <a:pt x="570" y="321"/>
                  <a:pt x="570" y="321"/>
                </a:cubicBezTo>
                <a:cubicBezTo>
                  <a:pt x="535" y="344"/>
                  <a:pt x="502" y="369"/>
                  <a:pt x="471" y="396"/>
                </a:cubicBezTo>
                <a:cubicBezTo>
                  <a:pt x="305" y="314"/>
                  <a:pt x="305" y="314"/>
                  <a:pt x="305" y="314"/>
                </a:cubicBezTo>
                <a:cubicBezTo>
                  <a:pt x="217" y="416"/>
                  <a:pt x="217" y="416"/>
                  <a:pt x="217" y="416"/>
                </a:cubicBezTo>
                <a:cubicBezTo>
                  <a:pt x="322" y="568"/>
                  <a:pt x="322" y="568"/>
                  <a:pt x="322" y="568"/>
                </a:cubicBezTo>
                <a:cubicBezTo>
                  <a:pt x="301" y="600"/>
                  <a:pt x="282" y="633"/>
                  <a:pt x="265" y="666"/>
                </a:cubicBezTo>
                <a:cubicBezTo>
                  <a:pt x="81" y="652"/>
                  <a:pt x="81" y="652"/>
                  <a:pt x="81" y="652"/>
                </a:cubicBezTo>
                <a:cubicBezTo>
                  <a:pt x="37" y="780"/>
                  <a:pt x="37" y="780"/>
                  <a:pt x="37" y="780"/>
                </a:cubicBezTo>
                <a:cubicBezTo>
                  <a:pt x="192" y="882"/>
                  <a:pt x="192" y="882"/>
                  <a:pt x="192" y="882"/>
                </a:cubicBezTo>
                <a:cubicBezTo>
                  <a:pt x="183" y="923"/>
                  <a:pt x="178" y="964"/>
                  <a:pt x="175" y="1005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9" y="1198"/>
                  <a:pt x="9" y="1198"/>
                  <a:pt x="9" y="1198"/>
                </a:cubicBezTo>
                <a:cubicBezTo>
                  <a:pt x="191" y="1233"/>
                  <a:pt x="191" y="1233"/>
                  <a:pt x="191" y="1233"/>
                </a:cubicBezTo>
                <a:cubicBezTo>
                  <a:pt x="199" y="1269"/>
                  <a:pt x="208" y="1306"/>
                  <a:pt x="221" y="1342"/>
                </a:cubicBezTo>
                <a:cubicBezTo>
                  <a:pt x="78" y="1463"/>
                  <a:pt x="78" y="1463"/>
                  <a:pt x="78" y="1463"/>
                </a:cubicBezTo>
                <a:cubicBezTo>
                  <a:pt x="138" y="1584"/>
                  <a:pt x="138" y="1584"/>
                  <a:pt x="138" y="1584"/>
                </a:cubicBezTo>
                <a:cubicBezTo>
                  <a:pt x="321" y="1546"/>
                  <a:pt x="321" y="1546"/>
                  <a:pt x="321" y="1546"/>
                </a:cubicBezTo>
                <a:cubicBezTo>
                  <a:pt x="344" y="1581"/>
                  <a:pt x="369" y="1614"/>
                  <a:pt x="397" y="1645"/>
                </a:cubicBezTo>
                <a:cubicBezTo>
                  <a:pt x="314" y="1811"/>
                  <a:pt x="314" y="1811"/>
                  <a:pt x="314" y="1811"/>
                </a:cubicBezTo>
                <a:cubicBezTo>
                  <a:pt x="416" y="1899"/>
                  <a:pt x="416" y="1899"/>
                  <a:pt x="416" y="1899"/>
                </a:cubicBezTo>
                <a:cubicBezTo>
                  <a:pt x="569" y="1794"/>
                  <a:pt x="569" y="1794"/>
                  <a:pt x="569" y="1794"/>
                </a:cubicBezTo>
                <a:cubicBezTo>
                  <a:pt x="600" y="1815"/>
                  <a:pt x="633" y="1834"/>
                  <a:pt x="667" y="1851"/>
                </a:cubicBezTo>
                <a:cubicBezTo>
                  <a:pt x="653" y="2035"/>
                  <a:pt x="653" y="2035"/>
                  <a:pt x="653" y="2035"/>
                </a:cubicBezTo>
                <a:cubicBezTo>
                  <a:pt x="780" y="2079"/>
                  <a:pt x="780" y="2079"/>
                  <a:pt x="780" y="2079"/>
                </a:cubicBezTo>
                <a:cubicBezTo>
                  <a:pt x="882" y="1925"/>
                  <a:pt x="882" y="1925"/>
                  <a:pt x="882" y="1925"/>
                </a:cubicBezTo>
                <a:cubicBezTo>
                  <a:pt x="923" y="1933"/>
                  <a:pt x="964" y="1938"/>
                  <a:pt x="1005" y="1941"/>
                </a:cubicBezTo>
                <a:cubicBezTo>
                  <a:pt x="1064" y="2116"/>
                  <a:pt x="1064" y="2116"/>
                  <a:pt x="1064" y="2116"/>
                </a:cubicBezTo>
                <a:cubicBezTo>
                  <a:pt x="1199" y="2107"/>
                  <a:pt x="1199" y="2107"/>
                  <a:pt x="1199" y="2107"/>
                </a:cubicBezTo>
                <a:cubicBezTo>
                  <a:pt x="1233" y="1925"/>
                  <a:pt x="1233" y="1925"/>
                  <a:pt x="1233" y="1925"/>
                </a:cubicBezTo>
                <a:cubicBezTo>
                  <a:pt x="1269" y="1918"/>
                  <a:pt x="1306" y="1908"/>
                  <a:pt x="1342" y="1896"/>
                </a:cubicBezTo>
                <a:cubicBezTo>
                  <a:pt x="1464" y="2038"/>
                  <a:pt x="1464" y="2038"/>
                  <a:pt x="1464" y="2038"/>
                </a:cubicBezTo>
                <a:cubicBezTo>
                  <a:pt x="1584" y="1979"/>
                  <a:pt x="1584" y="1979"/>
                  <a:pt x="1584" y="1979"/>
                </a:cubicBezTo>
                <a:cubicBezTo>
                  <a:pt x="1546" y="1795"/>
                  <a:pt x="1546" y="1795"/>
                  <a:pt x="1546" y="1795"/>
                </a:cubicBezTo>
                <a:cubicBezTo>
                  <a:pt x="1581" y="1772"/>
                  <a:pt x="1614" y="1747"/>
                  <a:pt x="1645" y="1719"/>
                </a:cubicBezTo>
                <a:cubicBezTo>
                  <a:pt x="1811" y="1802"/>
                  <a:pt x="1811" y="1802"/>
                  <a:pt x="1811" y="1802"/>
                </a:cubicBezTo>
                <a:cubicBezTo>
                  <a:pt x="1899" y="1700"/>
                  <a:pt x="1899" y="1700"/>
                  <a:pt x="1899" y="1700"/>
                </a:cubicBezTo>
                <a:cubicBezTo>
                  <a:pt x="1795" y="1547"/>
                  <a:pt x="1795" y="1547"/>
                  <a:pt x="1795" y="1547"/>
                </a:cubicBezTo>
                <a:cubicBezTo>
                  <a:pt x="1816" y="1516"/>
                  <a:pt x="1834" y="1483"/>
                  <a:pt x="1851" y="1450"/>
                </a:cubicBezTo>
                <a:cubicBezTo>
                  <a:pt x="2036" y="1463"/>
                  <a:pt x="2036" y="1463"/>
                  <a:pt x="2036" y="1463"/>
                </a:cubicBezTo>
                <a:cubicBezTo>
                  <a:pt x="2079" y="1336"/>
                  <a:pt x="2079" y="1336"/>
                  <a:pt x="2079" y="1336"/>
                </a:cubicBezTo>
                <a:cubicBezTo>
                  <a:pt x="1925" y="1234"/>
                  <a:pt x="1925" y="1234"/>
                  <a:pt x="1925" y="1234"/>
                </a:cubicBezTo>
                <a:cubicBezTo>
                  <a:pt x="1933" y="1193"/>
                  <a:pt x="1938" y="1152"/>
                  <a:pt x="1941" y="1111"/>
                </a:cubicBezTo>
                <a:close/>
                <a:moveTo>
                  <a:pt x="1358" y="1669"/>
                </a:moveTo>
                <a:cubicBezTo>
                  <a:pt x="1020" y="1834"/>
                  <a:pt x="613" y="1695"/>
                  <a:pt x="447" y="1357"/>
                </a:cubicBezTo>
                <a:cubicBezTo>
                  <a:pt x="282" y="1020"/>
                  <a:pt x="421" y="613"/>
                  <a:pt x="759" y="447"/>
                </a:cubicBezTo>
                <a:cubicBezTo>
                  <a:pt x="1096" y="282"/>
                  <a:pt x="1504" y="421"/>
                  <a:pt x="1669" y="759"/>
                </a:cubicBezTo>
                <a:cubicBezTo>
                  <a:pt x="1834" y="1096"/>
                  <a:pt x="1695" y="1503"/>
                  <a:pt x="1358" y="16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rgbClr val="00518C"/>
              </a:solidFill>
              <a:cs typeface="+mn-ea"/>
              <a:sym typeface="+mn-lt"/>
            </a:endParaRPr>
          </a:p>
        </p:txBody>
      </p:sp>
      <p:sp>
        <p:nvSpPr>
          <p:cNvPr id="6" name="Freeform 240"/>
          <p:cNvSpPr>
            <a:spLocks noEditPoints="1" noChangeArrowheads="1"/>
          </p:cNvSpPr>
          <p:nvPr/>
        </p:nvSpPr>
        <p:spPr bwMode="auto">
          <a:xfrm>
            <a:off x="22860" y="1207770"/>
            <a:ext cx="687070" cy="655955"/>
          </a:xfrm>
          <a:custGeom>
            <a:avLst/>
            <a:gdLst>
              <a:gd name="T0" fmla="*/ 2147483646 w 1840"/>
              <a:gd name="T1" fmla="*/ 1155559799 h 1840"/>
              <a:gd name="T2" fmla="*/ 2016235029 w 1840"/>
              <a:gd name="T3" fmla="*/ 968560309 h 1840"/>
              <a:gd name="T4" fmla="*/ 2146895336 w 1840"/>
              <a:gd name="T5" fmla="*/ 736010363 h 1840"/>
              <a:gd name="T6" fmla="*/ 1891569068 w 1840"/>
              <a:gd name="T7" fmla="*/ 624529772 h 1840"/>
              <a:gd name="T8" fmla="*/ 1920338641 w 1840"/>
              <a:gd name="T9" fmla="*/ 360812515 h 1840"/>
              <a:gd name="T10" fmla="*/ 1653025871 w 1840"/>
              <a:gd name="T11" fmla="*/ 363210253 h 1840"/>
              <a:gd name="T12" fmla="*/ 1579903616 w 1840"/>
              <a:gd name="T13" fmla="*/ 107883984 h 1840"/>
              <a:gd name="T14" fmla="*/ 1322180704 w 1840"/>
              <a:gd name="T15" fmla="*/ 207376980 h 1840"/>
              <a:gd name="T16" fmla="*/ 1155559799 w 1840"/>
              <a:gd name="T17" fmla="*/ 0 h 1840"/>
              <a:gd name="T18" fmla="*/ 968560309 w 1840"/>
              <a:gd name="T19" fmla="*/ 190595002 h 1840"/>
              <a:gd name="T20" fmla="*/ 734811494 w 1840"/>
              <a:gd name="T21" fmla="*/ 58736921 h 1840"/>
              <a:gd name="T22" fmla="*/ 624529772 w 1840"/>
              <a:gd name="T23" fmla="*/ 314063190 h 1840"/>
              <a:gd name="T24" fmla="*/ 360812515 w 1840"/>
              <a:gd name="T25" fmla="*/ 286492485 h 1840"/>
              <a:gd name="T26" fmla="*/ 363210253 w 1840"/>
              <a:gd name="T27" fmla="*/ 552606386 h 1840"/>
              <a:gd name="T28" fmla="*/ 106685115 w 1840"/>
              <a:gd name="T29" fmla="*/ 625728641 h 1840"/>
              <a:gd name="T30" fmla="*/ 207376980 w 1840"/>
              <a:gd name="T31" fmla="*/ 883451553 h 1840"/>
              <a:gd name="T32" fmla="*/ 0 w 1840"/>
              <a:gd name="T33" fmla="*/ 1051271327 h 1840"/>
              <a:gd name="T34" fmla="*/ 190595002 w 1840"/>
              <a:gd name="T35" fmla="*/ 1237071948 h 1840"/>
              <a:gd name="T36" fmla="*/ 58736921 w 1840"/>
              <a:gd name="T37" fmla="*/ 1470820763 h 1840"/>
              <a:gd name="T38" fmla="*/ 314063190 w 1840"/>
              <a:gd name="T39" fmla="*/ 1582301354 h 1840"/>
              <a:gd name="T40" fmla="*/ 286492485 w 1840"/>
              <a:gd name="T41" fmla="*/ 1846018612 h 1840"/>
              <a:gd name="T42" fmla="*/ 552606386 w 1840"/>
              <a:gd name="T43" fmla="*/ 1843620874 h 1840"/>
              <a:gd name="T44" fmla="*/ 625728641 w 1840"/>
              <a:gd name="T45" fmla="*/ 2098947142 h 1840"/>
              <a:gd name="T46" fmla="*/ 883451553 w 1840"/>
              <a:gd name="T47" fmla="*/ 1999453052 h 1840"/>
              <a:gd name="T48" fmla="*/ 1050072458 w 1840"/>
              <a:gd name="T49" fmla="*/ 2147483646 h 1840"/>
              <a:gd name="T50" fmla="*/ 1237071948 w 1840"/>
              <a:gd name="T51" fmla="*/ 2016235029 h 1840"/>
              <a:gd name="T52" fmla="*/ 1470820763 w 1840"/>
              <a:gd name="T53" fmla="*/ 2146895336 h 1840"/>
              <a:gd name="T54" fmla="*/ 1581102485 w 1840"/>
              <a:gd name="T55" fmla="*/ 1892767937 h 1840"/>
              <a:gd name="T56" fmla="*/ 1846018612 w 1840"/>
              <a:gd name="T57" fmla="*/ 1920338641 h 1840"/>
              <a:gd name="T58" fmla="*/ 1843620874 w 1840"/>
              <a:gd name="T59" fmla="*/ 1654223646 h 1840"/>
              <a:gd name="T60" fmla="*/ 2098947142 w 1840"/>
              <a:gd name="T61" fmla="*/ 1579903616 h 1840"/>
              <a:gd name="T62" fmla="*/ 1999453052 w 1840"/>
              <a:gd name="T63" fmla="*/ 1323379573 h 1840"/>
              <a:gd name="T64" fmla="*/ 1295808869 w 1840"/>
              <a:gd name="T65" fmla="*/ 1786082822 h 1840"/>
              <a:gd name="T66" fmla="*/ 909823388 w 1840"/>
              <a:gd name="T67" fmla="*/ 420748305 h 1840"/>
              <a:gd name="T68" fmla="*/ 1295808869 w 1840"/>
              <a:gd name="T69" fmla="*/ 1786082822 h 184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840"/>
              <a:gd name="T106" fmla="*/ 0 h 1840"/>
              <a:gd name="T107" fmla="*/ 1840 w 1840"/>
              <a:gd name="T108" fmla="*/ 1840 h 1840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840" h="1840">
                <a:moveTo>
                  <a:pt x="1827" y="1080"/>
                </a:moveTo>
                <a:cubicBezTo>
                  <a:pt x="1840" y="964"/>
                  <a:pt x="1840" y="964"/>
                  <a:pt x="1840" y="964"/>
                </a:cubicBezTo>
                <a:cubicBezTo>
                  <a:pt x="1690" y="906"/>
                  <a:pt x="1690" y="906"/>
                  <a:pt x="1690" y="906"/>
                </a:cubicBezTo>
                <a:cubicBezTo>
                  <a:pt x="1689" y="874"/>
                  <a:pt x="1687" y="841"/>
                  <a:pt x="1682" y="808"/>
                </a:cubicBezTo>
                <a:cubicBezTo>
                  <a:pt x="1823" y="726"/>
                  <a:pt x="1823" y="726"/>
                  <a:pt x="1823" y="726"/>
                </a:cubicBezTo>
                <a:cubicBezTo>
                  <a:pt x="1791" y="614"/>
                  <a:pt x="1791" y="614"/>
                  <a:pt x="1791" y="614"/>
                </a:cubicBezTo>
                <a:cubicBezTo>
                  <a:pt x="1628" y="618"/>
                  <a:pt x="1628" y="618"/>
                  <a:pt x="1628" y="618"/>
                </a:cubicBezTo>
                <a:cubicBezTo>
                  <a:pt x="1614" y="584"/>
                  <a:pt x="1597" y="552"/>
                  <a:pt x="1578" y="521"/>
                </a:cubicBezTo>
                <a:cubicBezTo>
                  <a:pt x="1675" y="392"/>
                  <a:pt x="1675" y="392"/>
                  <a:pt x="1675" y="392"/>
                </a:cubicBezTo>
                <a:cubicBezTo>
                  <a:pt x="1602" y="301"/>
                  <a:pt x="1602" y="301"/>
                  <a:pt x="1602" y="301"/>
                </a:cubicBezTo>
                <a:cubicBezTo>
                  <a:pt x="1455" y="366"/>
                  <a:pt x="1455" y="366"/>
                  <a:pt x="1455" y="366"/>
                </a:cubicBezTo>
                <a:cubicBezTo>
                  <a:pt x="1431" y="344"/>
                  <a:pt x="1406" y="322"/>
                  <a:pt x="1379" y="303"/>
                </a:cubicBezTo>
                <a:cubicBezTo>
                  <a:pt x="1420" y="147"/>
                  <a:pt x="1420" y="147"/>
                  <a:pt x="1420" y="147"/>
                </a:cubicBezTo>
                <a:cubicBezTo>
                  <a:pt x="1318" y="90"/>
                  <a:pt x="1318" y="90"/>
                  <a:pt x="1318" y="90"/>
                </a:cubicBezTo>
                <a:cubicBezTo>
                  <a:pt x="1206" y="206"/>
                  <a:pt x="1206" y="206"/>
                  <a:pt x="1206" y="206"/>
                </a:cubicBezTo>
                <a:cubicBezTo>
                  <a:pt x="1173" y="193"/>
                  <a:pt x="1139" y="181"/>
                  <a:pt x="1103" y="173"/>
                </a:cubicBezTo>
                <a:cubicBezTo>
                  <a:pt x="1080" y="13"/>
                  <a:pt x="1080" y="13"/>
                  <a:pt x="1080" y="13"/>
                </a:cubicBezTo>
                <a:cubicBezTo>
                  <a:pt x="964" y="0"/>
                  <a:pt x="964" y="0"/>
                  <a:pt x="964" y="0"/>
                </a:cubicBezTo>
                <a:cubicBezTo>
                  <a:pt x="906" y="151"/>
                  <a:pt x="906" y="151"/>
                  <a:pt x="906" y="151"/>
                </a:cubicBezTo>
                <a:cubicBezTo>
                  <a:pt x="874" y="151"/>
                  <a:pt x="841" y="154"/>
                  <a:pt x="808" y="159"/>
                </a:cubicBezTo>
                <a:cubicBezTo>
                  <a:pt x="726" y="17"/>
                  <a:pt x="726" y="17"/>
                  <a:pt x="726" y="17"/>
                </a:cubicBezTo>
                <a:cubicBezTo>
                  <a:pt x="613" y="49"/>
                  <a:pt x="613" y="49"/>
                  <a:pt x="613" y="49"/>
                </a:cubicBezTo>
                <a:cubicBezTo>
                  <a:pt x="617" y="213"/>
                  <a:pt x="617" y="213"/>
                  <a:pt x="617" y="213"/>
                </a:cubicBezTo>
                <a:cubicBezTo>
                  <a:pt x="584" y="227"/>
                  <a:pt x="552" y="244"/>
                  <a:pt x="521" y="262"/>
                </a:cubicBezTo>
                <a:cubicBezTo>
                  <a:pt x="392" y="166"/>
                  <a:pt x="392" y="166"/>
                  <a:pt x="392" y="166"/>
                </a:cubicBezTo>
                <a:cubicBezTo>
                  <a:pt x="301" y="239"/>
                  <a:pt x="301" y="239"/>
                  <a:pt x="301" y="239"/>
                </a:cubicBezTo>
                <a:cubicBezTo>
                  <a:pt x="366" y="386"/>
                  <a:pt x="366" y="386"/>
                  <a:pt x="366" y="386"/>
                </a:cubicBezTo>
                <a:cubicBezTo>
                  <a:pt x="343" y="410"/>
                  <a:pt x="322" y="435"/>
                  <a:pt x="303" y="461"/>
                </a:cubicBezTo>
                <a:cubicBezTo>
                  <a:pt x="147" y="420"/>
                  <a:pt x="147" y="420"/>
                  <a:pt x="147" y="420"/>
                </a:cubicBezTo>
                <a:cubicBezTo>
                  <a:pt x="89" y="522"/>
                  <a:pt x="89" y="522"/>
                  <a:pt x="89" y="522"/>
                </a:cubicBezTo>
                <a:cubicBezTo>
                  <a:pt x="206" y="634"/>
                  <a:pt x="206" y="634"/>
                  <a:pt x="206" y="634"/>
                </a:cubicBezTo>
                <a:cubicBezTo>
                  <a:pt x="192" y="668"/>
                  <a:pt x="181" y="702"/>
                  <a:pt x="173" y="737"/>
                </a:cubicBezTo>
                <a:cubicBezTo>
                  <a:pt x="13" y="760"/>
                  <a:pt x="13" y="760"/>
                  <a:pt x="13" y="760"/>
                </a:cubicBezTo>
                <a:cubicBezTo>
                  <a:pt x="0" y="877"/>
                  <a:pt x="0" y="877"/>
                  <a:pt x="0" y="877"/>
                </a:cubicBezTo>
                <a:cubicBezTo>
                  <a:pt x="151" y="934"/>
                  <a:pt x="151" y="934"/>
                  <a:pt x="151" y="934"/>
                </a:cubicBezTo>
                <a:cubicBezTo>
                  <a:pt x="151" y="967"/>
                  <a:pt x="154" y="1000"/>
                  <a:pt x="159" y="1032"/>
                </a:cubicBezTo>
                <a:cubicBezTo>
                  <a:pt x="17" y="1115"/>
                  <a:pt x="17" y="1115"/>
                  <a:pt x="17" y="1115"/>
                </a:cubicBezTo>
                <a:cubicBezTo>
                  <a:pt x="49" y="1227"/>
                  <a:pt x="49" y="1227"/>
                  <a:pt x="49" y="1227"/>
                </a:cubicBezTo>
                <a:cubicBezTo>
                  <a:pt x="212" y="1223"/>
                  <a:pt x="212" y="1223"/>
                  <a:pt x="212" y="1223"/>
                </a:cubicBezTo>
                <a:cubicBezTo>
                  <a:pt x="227" y="1257"/>
                  <a:pt x="243" y="1289"/>
                  <a:pt x="262" y="1320"/>
                </a:cubicBezTo>
                <a:cubicBezTo>
                  <a:pt x="166" y="1449"/>
                  <a:pt x="166" y="1449"/>
                  <a:pt x="166" y="1449"/>
                </a:cubicBezTo>
                <a:cubicBezTo>
                  <a:pt x="239" y="1540"/>
                  <a:pt x="239" y="1540"/>
                  <a:pt x="239" y="1540"/>
                </a:cubicBezTo>
                <a:cubicBezTo>
                  <a:pt x="386" y="1474"/>
                  <a:pt x="386" y="1474"/>
                  <a:pt x="386" y="1474"/>
                </a:cubicBezTo>
                <a:cubicBezTo>
                  <a:pt x="410" y="1497"/>
                  <a:pt x="435" y="1518"/>
                  <a:pt x="461" y="1538"/>
                </a:cubicBezTo>
                <a:cubicBezTo>
                  <a:pt x="420" y="1694"/>
                  <a:pt x="420" y="1694"/>
                  <a:pt x="420" y="1694"/>
                </a:cubicBezTo>
                <a:cubicBezTo>
                  <a:pt x="522" y="1751"/>
                  <a:pt x="522" y="1751"/>
                  <a:pt x="522" y="1751"/>
                </a:cubicBezTo>
                <a:cubicBezTo>
                  <a:pt x="634" y="1635"/>
                  <a:pt x="634" y="1635"/>
                  <a:pt x="634" y="1635"/>
                </a:cubicBezTo>
                <a:cubicBezTo>
                  <a:pt x="667" y="1648"/>
                  <a:pt x="702" y="1659"/>
                  <a:pt x="737" y="1668"/>
                </a:cubicBezTo>
                <a:cubicBezTo>
                  <a:pt x="760" y="1827"/>
                  <a:pt x="760" y="1827"/>
                  <a:pt x="760" y="1827"/>
                </a:cubicBezTo>
                <a:cubicBezTo>
                  <a:pt x="876" y="1840"/>
                  <a:pt x="876" y="1840"/>
                  <a:pt x="876" y="1840"/>
                </a:cubicBezTo>
                <a:cubicBezTo>
                  <a:pt x="934" y="1690"/>
                  <a:pt x="934" y="1690"/>
                  <a:pt x="934" y="1690"/>
                </a:cubicBezTo>
                <a:cubicBezTo>
                  <a:pt x="967" y="1689"/>
                  <a:pt x="1000" y="1687"/>
                  <a:pt x="1032" y="1682"/>
                </a:cubicBezTo>
                <a:cubicBezTo>
                  <a:pt x="1114" y="1823"/>
                  <a:pt x="1114" y="1823"/>
                  <a:pt x="1114" y="1823"/>
                </a:cubicBezTo>
                <a:cubicBezTo>
                  <a:pt x="1227" y="1791"/>
                  <a:pt x="1227" y="1791"/>
                  <a:pt x="1227" y="1791"/>
                </a:cubicBezTo>
                <a:cubicBezTo>
                  <a:pt x="1223" y="1628"/>
                  <a:pt x="1223" y="1628"/>
                  <a:pt x="1223" y="1628"/>
                </a:cubicBezTo>
                <a:cubicBezTo>
                  <a:pt x="1256" y="1614"/>
                  <a:pt x="1289" y="1597"/>
                  <a:pt x="1319" y="1579"/>
                </a:cubicBezTo>
                <a:cubicBezTo>
                  <a:pt x="1448" y="1675"/>
                  <a:pt x="1448" y="1675"/>
                  <a:pt x="1448" y="1675"/>
                </a:cubicBezTo>
                <a:cubicBezTo>
                  <a:pt x="1540" y="1602"/>
                  <a:pt x="1540" y="1602"/>
                  <a:pt x="1540" y="1602"/>
                </a:cubicBezTo>
                <a:cubicBezTo>
                  <a:pt x="1474" y="1455"/>
                  <a:pt x="1474" y="1455"/>
                  <a:pt x="1474" y="1455"/>
                </a:cubicBezTo>
                <a:cubicBezTo>
                  <a:pt x="1497" y="1431"/>
                  <a:pt x="1518" y="1406"/>
                  <a:pt x="1538" y="1380"/>
                </a:cubicBezTo>
                <a:cubicBezTo>
                  <a:pt x="1694" y="1420"/>
                  <a:pt x="1694" y="1420"/>
                  <a:pt x="1694" y="1420"/>
                </a:cubicBezTo>
                <a:cubicBezTo>
                  <a:pt x="1751" y="1318"/>
                  <a:pt x="1751" y="1318"/>
                  <a:pt x="1751" y="1318"/>
                </a:cubicBezTo>
                <a:cubicBezTo>
                  <a:pt x="1635" y="1207"/>
                  <a:pt x="1635" y="1207"/>
                  <a:pt x="1635" y="1207"/>
                </a:cubicBezTo>
                <a:cubicBezTo>
                  <a:pt x="1648" y="1173"/>
                  <a:pt x="1659" y="1139"/>
                  <a:pt x="1668" y="1104"/>
                </a:cubicBezTo>
                <a:lnTo>
                  <a:pt x="1827" y="1080"/>
                </a:lnTo>
                <a:close/>
                <a:moveTo>
                  <a:pt x="1081" y="1490"/>
                </a:moveTo>
                <a:cubicBezTo>
                  <a:pt x="766" y="1579"/>
                  <a:pt x="439" y="1396"/>
                  <a:pt x="350" y="1081"/>
                </a:cubicBezTo>
                <a:cubicBezTo>
                  <a:pt x="262" y="767"/>
                  <a:pt x="445" y="439"/>
                  <a:pt x="759" y="351"/>
                </a:cubicBezTo>
                <a:cubicBezTo>
                  <a:pt x="1074" y="262"/>
                  <a:pt x="1401" y="445"/>
                  <a:pt x="1490" y="760"/>
                </a:cubicBezTo>
                <a:cubicBezTo>
                  <a:pt x="1579" y="1074"/>
                  <a:pt x="1396" y="1401"/>
                  <a:pt x="1081" y="14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rgbClr val="00518C"/>
              </a:solidFill>
              <a:cs typeface="+mn-ea"/>
              <a:sym typeface="+mn-lt"/>
            </a:endParaRPr>
          </a:p>
        </p:txBody>
      </p:sp>
      <p:sp>
        <p:nvSpPr>
          <p:cNvPr id="7" name="Freeform 241"/>
          <p:cNvSpPr>
            <a:spLocks noEditPoints="1" noChangeArrowheads="1"/>
          </p:cNvSpPr>
          <p:nvPr/>
        </p:nvSpPr>
        <p:spPr bwMode="auto">
          <a:xfrm>
            <a:off x="563245" y="847725"/>
            <a:ext cx="497840" cy="476250"/>
          </a:xfrm>
          <a:custGeom>
            <a:avLst/>
            <a:gdLst>
              <a:gd name="T0" fmla="*/ 1597797940 w 1335"/>
              <a:gd name="T1" fmla="*/ 838420400 h 1335"/>
              <a:gd name="T2" fmla="*/ 1460159764 w 1335"/>
              <a:gd name="T3" fmla="*/ 702881009 h 1335"/>
              <a:gd name="T4" fmla="*/ 1555908393 w 1335"/>
              <a:gd name="T5" fmla="*/ 533758497 h 1335"/>
              <a:gd name="T6" fmla="*/ 1370396449 w 1335"/>
              <a:gd name="T7" fmla="*/ 453394036 h 1335"/>
              <a:gd name="T8" fmla="*/ 1390742800 w 1335"/>
              <a:gd name="T9" fmla="*/ 261481570 h 1335"/>
              <a:gd name="T10" fmla="*/ 1198048697 w 1335"/>
              <a:gd name="T11" fmla="*/ 262680811 h 1335"/>
              <a:gd name="T12" fmla="*/ 1144190708 w 1335"/>
              <a:gd name="T13" fmla="*/ 77964884 h 1335"/>
              <a:gd name="T14" fmla="*/ 958678764 w 1335"/>
              <a:gd name="T15" fmla="*/ 149932470 h 1335"/>
              <a:gd name="T16" fmla="*/ 836599562 w 1335"/>
              <a:gd name="T17" fmla="*/ 0 h 1335"/>
              <a:gd name="T18" fmla="*/ 701355074 w 1335"/>
              <a:gd name="T19" fmla="*/ 137937872 h 1335"/>
              <a:gd name="T20" fmla="*/ 532598949 w 1335"/>
              <a:gd name="T21" fmla="*/ 41981092 h 1335"/>
              <a:gd name="T22" fmla="*/ 452410388 w 1335"/>
              <a:gd name="T23" fmla="*/ 227896259 h 1335"/>
              <a:gd name="T24" fmla="*/ 260914222 w 1335"/>
              <a:gd name="T25" fmla="*/ 207505881 h 1335"/>
              <a:gd name="T26" fmla="*/ 263307911 w 1335"/>
              <a:gd name="T27" fmla="*/ 400618683 h 1335"/>
              <a:gd name="T28" fmla="*/ 77794873 w 1335"/>
              <a:gd name="T29" fmla="*/ 454594372 h 1335"/>
              <a:gd name="T30" fmla="*/ 149606618 w 1335"/>
              <a:gd name="T31" fmla="*/ 641708780 h 1335"/>
              <a:gd name="T32" fmla="*/ 0 w 1335"/>
              <a:gd name="T33" fmla="*/ 762853997 h 1335"/>
              <a:gd name="T34" fmla="*/ 137638176 w 1335"/>
              <a:gd name="T35" fmla="*/ 898393388 h 1335"/>
              <a:gd name="T36" fmla="*/ 41889547 w 1335"/>
              <a:gd name="T37" fmla="*/ 1067515899 h 1335"/>
              <a:gd name="T38" fmla="*/ 227401491 w 1335"/>
              <a:gd name="T39" fmla="*/ 1147880360 h 1335"/>
              <a:gd name="T40" fmla="*/ 207055140 w 1335"/>
              <a:gd name="T41" fmla="*/ 1339792827 h 1335"/>
              <a:gd name="T42" fmla="*/ 399749243 w 1335"/>
              <a:gd name="T43" fmla="*/ 1338593586 h 1335"/>
              <a:gd name="T44" fmla="*/ 453607232 w 1335"/>
              <a:gd name="T45" fmla="*/ 1523309513 h 1335"/>
              <a:gd name="T46" fmla="*/ 640316020 w 1335"/>
              <a:gd name="T47" fmla="*/ 1451341927 h 1335"/>
              <a:gd name="T48" fmla="*/ 761198378 w 1335"/>
              <a:gd name="T49" fmla="*/ 1601274397 h 1335"/>
              <a:gd name="T50" fmla="*/ 896442866 w 1335"/>
              <a:gd name="T51" fmla="*/ 1463336525 h 1335"/>
              <a:gd name="T52" fmla="*/ 1065198991 w 1335"/>
              <a:gd name="T53" fmla="*/ 1558094065 h 1335"/>
              <a:gd name="T54" fmla="*/ 1145387552 w 1335"/>
              <a:gd name="T55" fmla="*/ 1373378138 h 1335"/>
              <a:gd name="T56" fmla="*/ 1336883718 w 1335"/>
              <a:gd name="T57" fmla="*/ 1393768516 h 1335"/>
              <a:gd name="T58" fmla="*/ 1335686873 w 1335"/>
              <a:gd name="T59" fmla="*/ 1200655714 h 1335"/>
              <a:gd name="T60" fmla="*/ 1521199912 w 1335"/>
              <a:gd name="T61" fmla="*/ 1146680024 h 1335"/>
              <a:gd name="T62" fmla="*/ 1448191322 w 1335"/>
              <a:gd name="T63" fmla="*/ 960764857 h 1335"/>
              <a:gd name="T64" fmla="*/ 928757659 w 1335"/>
              <a:gd name="T65" fmla="*/ 1259429461 h 1335"/>
              <a:gd name="T66" fmla="*/ 670237125 w 1335"/>
              <a:gd name="T67" fmla="*/ 343044177 h 1335"/>
              <a:gd name="T68" fmla="*/ 928757659 w 1335"/>
              <a:gd name="T69" fmla="*/ 1259429461 h 133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335"/>
              <a:gd name="T106" fmla="*/ 0 h 1335"/>
              <a:gd name="T107" fmla="*/ 1335 w 1335"/>
              <a:gd name="T108" fmla="*/ 1335 h 1335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8" name="Freeform 242"/>
          <p:cNvSpPr>
            <a:spLocks noEditPoints="1" noChangeArrowheads="1"/>
          </p:cNvSpPr>
          <p:nvPr/>
        </p:nvSpPr>
        <p:spPr bwMode="auto">
          <a:xfrm>
            <a:off x="736600" y="2072005"/>
            <a:ext cx="424180" cy="403860"/>
          </a:xfrm>
          <a:custGeom>
            <a:avLst/>
            <a:gdLst>
              <a:gd name="T0" fmla="*/ 1214977973 w 1135"/>
              <a:gd name="T1" fmla="*/ 651949556 h 1134"/>
              <a:gd name="T2" fmla="*/ 1361302936 w 1135"/>
              <a:gd name="T3" fmla="*/ 565661760 h 1134"/>
              <a:gd name="T4" fmla="*/ 1327719709 w 1135"/>
              <a:gd name="T5" fmla="*/ 439825711 h 1134"/>
              <a:gd name="T6" fmla="*/ 1157407352 w 1135"/>
              <a:gd name="T7" fmla="*/ 438628075 h 1134"/>
              <a:gd name="T8" fmla="*/ 1038668493 w 1135"/>
              <a:gd name="T9" fmla="*/ 284029063 h 1134"/>
              <a:gd name="T10" fmla="*/ 1080646159 w 1135"/>
              <a:gd name="T11" fmla="*/ 118644761 h 1134"/>
              <a:gd name="T12" fmla="*/ 969103628 w 1135"/>
              <a:gd name="T13" fmla="*/ 53929735 h 1134"/>
              <a:gd name="T14" fmla="*/ 846766058 w 1135"/>
              <a:gd name="T15" fmla="*/ 172574496 h 1134"/>
              <a:gd name="T16" fmla="*/ 652466308 w 1135"/>
              <a:gd name="T17" fmla="*/ 147407724 h 1134"/>
              <a:gd name="T18" fmla="*/ 566110376 w 1135"/>
              <a:gd name="T19" fmla="*/ 0 h 1134"/>
              <a:gd name="T20" fmla="*/ 440174095 w 1135"/>
              <a:gd name="T21" fmla="*/ 33555696 h 1134"/>
              <a:gd name="T22" fmla="*/ 437775684 w 1135"/>
              <a:gd name="T23" fmla="*/ 203733826 h 1134"/>
              <a:gd name="T24" fmla="*/ 284254394 w 1135"/>
              <a:gd name="T25" fmla="*/ 322379681 h 1134"/>
              <a:gd name="T26" fmla="*/ 118738858 w 1135"/>
              <a:gd name="T27" fmla="*/ 280433966 h 1134"/>
              <a:gd name="T28" fmla="*/ 53971910 w 1135"/>
              <a:gd name="T29" fmla="*/ 391888534 h 1134"/>
              <a:gd name="T30" fmla="*/ 172711863 w 1135"/>
              <a:gd name="T31" fmla="*/ 514129486 h 1134"/>
              <a:gd name="T32" fmla="*/ 147524169 w 1135"/>
              <a:gd name="T33" fmla="*/ 707076927 h 1134"/>
              <a:gd name="T34" fmla="*/ 0 w 1135"/>
              <a:gd name="T35" fmla="*/ 794563452 h 1134"/>
              <a:gd name="T36" fmla="*/ 33583227 w 1135"/>
              <a:gd name="T37" fmla="*/ 919200771 h 1134"/>
              <a:gd name="T38" fmla="*/ 205094790 w 1135"/>
              <a:gd name="T39" fmla="*/ 921597137 h 1134"/>
              <a:gd name="T40" fmla="*/ 322634442 w 1135"/>
              <a:gd name="T41" fmla="*/ 1076195055 h 1134"/>
              <a:gd name="T42" fmla="*/ 280656777 w 1135"/>
              <a:gd name="T43" fmla="*/ 1241579357 h 1134"/>
              <a:gd name="T44" fmla="*/ 393398513 w 1135"/>
              <a:gd name="T45" fmla="*/ 1306295477 h 1134"/>
              <a:gd name="T46" fmla="*/ 514536877 w 1135"/>
              <a:gd name="T47" fmla="*/ 1187649622 h 1134"/>
              <a:gd name="T48" fmla="*/ 708836628 w 1135"/>
              <a:gd name="T49" fmla="*/ 1212817488 h 1134"/>
              <a:gd name="T50" fmla="*/ 796391765 w 1135"/>
              <a:gd name="T51" fmla="*/ 1359026482 h 1134"/>
              <a:gd name="T52" fmla="*/ 921128841 w 1135"/>
              <a:gd name="T53" fmla="*/ 1325470786 h 1134"/>
              <a:gd name="T54" fmla="*/ 923527251 w 1135"/>
              <a:gd name="T55" fmla="*/ 1155292656 h 1134"/>
              <a:gd name="T56" fmla="*/ 1078247748 w 1135"/>
              <a:gd name="T57" fmla="*/ 1036646801 h 1134"/>
              <a:gd name="T58" fmla="*/ 1242564078 w 1135"/>
              <a:gd name="T59" fmla="*/ 1078592516 h 1134"/>
              <a:gd name="T60" fmla="*/ 1307331026 w 1135"/>
              <a:gd name="T61" fmla="*/ 967137948 h 1134"/>
              <a:gd name="T62" fmla="*/ 1189790278 w 1135"/>
              <a:gd name="T63" fmla="*/ 844896996 h 1134"/>
              <a:gd name="T64" fmla="*/ 1214977973 w 1135"/>
              <a:gd name="T65" fmla="*/ 651949556 h 1134"/>
              <a:gd name="T66" fmla="*/ 711236134 w 1135"/>
              <a:gd name="T67" fmla="*/ 1053425744 h 1134"/>
              <a:gd name="T68" fmla="*/ 307042582 w 1135"/>
              <a:gd name="T69" fmla="*/ 710673118 h 1134"/>
              <a:gd name="T70" fmla="*/ 651266007 w 1135"/>
              <a:gd name="T71" fmla="*/ 306799469 h 1134"/>
              <a:gd name="T72" fmla="*/ 1054260354 w 1135"/>
              <a:gd name="T73" fmla="*/ 649552095 h 1134"/>
              <a:gd name="T74" fmla="*/ 711236134 w 1135"/>
              <a:gd name="T75" fmla="*/ 1053425744 h 113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135"/>
              <a:gd name="T115" fmla="*/ 0 h 1134"/>
              <a:gd name="T116" fmla="*/ 1135 w 1135"/>
              <a:gd name="T117" fmla="*/ 1134 h 1134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135" h="1134">
                <a:moveTo>
                  <a:pt x="1013" y="544"/>
                </a:moveTo>
                <a:cubicBezTo>
                  <a:pt x="1135" y="472"/>
                  <a:pt x="1135" y="472"/>
                  <a:pt x="1135" y="472"/>
                </a:cubicBezTo>
                <a:cubicBezTo>
                  <a:pt x="1107" y="367"/>
                  <a:pt x="1107" y="367"/>
                  <a:pt x="1107" y="367"/>
                </a:cubicBezTo>
                <a:cubicBezTo>
                  <a:pt x="965" y="366"/>
                  <a:pt x="965" y="366"/>
                  <a:pt x="965" y="366"/>
                </a:cubicBezTo>
                <a:cubicBezTo>
                  <a:pt x="940" y="317"/>
                  <a:pt x="906" y="273"/>
                  <a:pt x="866" y="237"/>
                </a:cubicBezTo>
                <a:cubicBezTo>
                  <a:pt x="901" y="99"/>
                  <a:pt x="901" y="99"/>
                  <a:pt x="901" y="99"/>
                </a:cubicBezTo>
                <a:cubicBezTo>
                  <a:pt x="808" y="45"/>
                  <a:pt x="808" y="45"/>
                  <a:pt x="808" y="45"/>
                </a:cubicBezTo>
                <a:cubicBezTo>
                  <a:pt x="706" y="144"/>
                  <a:pt x="706" y="144"/>
                  <a:pt x="706" y="144"/>
                </a:cubicBezTo>
                <a:cubicBezTo>
                  <a:pt x="655" y="127"/>
                  <a:pt x="601" y="120"/>
                  <a:pt x="544" y="123"/>
                </a:cubicBezTo>
                <a:cubicBezTo>
                  <a:pt x="472" y="0"/>
                  <a:pt x="472" y="0"/>
                  <a:pt x="472" y="0"/>
                </a:cubicBezTo>
                <a:cubicBezTo>
                  <a:pt x="367" y="28"/>
                  <a:pt x="367" y="28"/>
                  <a:pt x="367" y="28"/>
                </a:cubicBezTo>
                <a:cubicBezTo>
                  <a:pt x="365" y="170"/>
                  <a:pt x="365" y="170"/>
                  <a:pt x="365" y="170"/>
                </a:cubicBezTo>
                <a:cubicBezTo>
                  <a:pt x="317" y="195"/>
                  <a:pt x="273" y="229"/>
                  <a:pt x="237" y="269"/>
                </a:cubicBezTo>
                <a:cubicBezTo>
                  <a:pt x="99" y="234"/>
                  <a:pt x="99" y="234"/>
                  <a:pt x="99" y="234"/>
                </a:cubicBezTo>
                <a:cubicBezTo>
                  <a:pt x="45" y="327"/>
                  <a:pt x="45" y="327"/>
                  <a:pt x="45" y="327"/>
                </a:cubicBezTo>
                <a:cubicBezTo>
                  <a:pt x="144" y="429"/>
                  <a:pt x="144" y="429"/>
                  <a:pt x="144" y="429"/>
                </a:cubicBezTo>
                <a:cubicBezTo>
                  <a:pt x="128" y="480"/>
                  <a:pt x="120" y="534"/>
                  <a:pt x="123" y="590"/>
                </a:cubicBezTo>
                <a:cubicBezTo>
                  <a:pt x="0" y="663"/>
                  <a:pt x="0" y="663"/>
                  <a:pt x="0" y="663"/>
                </a:cubicBezTo>
                <a:cubicBezTo>
                  <a:pt x="28" y="767"/>
                  <a:pt x="28" y="767"/>
                  <a:pt x="28" y="767"/>
                </a:cubicBezTo>
                <a:cubicBezTo>
                  <a:pt x="171" y="769"/>
                  <a:pt x="171" y="769"/>
                  <a:pt x="171" y="769"/>
                </a:cubicBezTo>
                <a:cubicBezTo>
                  <a:pt x="195" y="818"/>
                  <a:pt x="229" y="862"/>
                  <a:pt x="269" y="898"/>
                </a:cubicBezTo>
                <a:cubicBezTo>
                  <a:pt x="234" y="1036"/>
                  <a:pt x="234" y="1036"/>
                  <a:pt x="234" y="1036"/>
                </a:cubicBezTo>
                <a:cubicBezTo>
                  <a:pt x="328" y="1090"/>
                  <a:pt x="328" y="1090"/>
                  <a:pt x="328" y="1090"/>
                </a:cubicBezTo>
                <a:cubicBezTo>
                  <a:pt x="429" y="991"/>
                  <a:pt x="429" y="991"/>
                  <a:pt x="429" y="991"/>
                </a:cubicBezTo>
                <a:cubicBezTo>
                  <a:pt x="480" y="1008"/>
                  <a:pt x="535" y="1015"/>
                  <a:pt x="591" y="1012"/>
                </a:cubicBezTo>
                <a:cubicBezTo>
                  <a:pt x="664" y="1134"/>
                  <a:pt x="664" y="1134"/>
                  <a:pt x="664" y="1134"/>
                </a:cubicBezTo>
                <a:cubicBezTo>
                  <a:pt x="768" y="1106"/>
                  <a:pt x="768" y="1106"/>
                  <a:pt x="768" y="1106"/>
                </a:cubicBezTo>
                <a:cubicBezTo>
                  <a:pt x="770" y="964"/>
                  <a:pt x="770" y="964"/>
                  <a:pt x="770" y="964"/>
                </a:cubicBezTo>
                <a:cubicBezTo>
                  <a:pt x="819" y="939"/>
                  <a:pt x="863" y="906"/>
                  <a:pt x="899" y="865"/>
                </a:cubicBezTo>
                <a:cubicBezTo>
                  <a:pt x="1036" y="900"/>
                  <a:pt x="1036" y="900"/>
                  <a:pt x="1036" y="900"/>
                </a:cubicBezTo>
                <a:cubicBezTo>
                  <a:pt x="1090" y="807"/>
                  <a:pt x="1090" y="807"/>
                  <a:pt x="1090" y="807"/>
                </a:cubicBezTo>
                <a:cubicBezTo>
                  <a:pt x="992" y="705"/>
                  <a:pt x="992" y="705"/>
                  <a:pt x="992" y="705"/>
                </a:cubicBezTo>
                <a:cubicBezTo>
                  <a:pt x="1008" y="654"/>
                  <a:pt x="1015" y="600"/>
                  <a:pt x="1013" y="544"/>
                </a:cubicBezTo>
                <a:close/>
                <a:moveTo>
                  <a:pt x="593" y="879"/>
                </a:moveTo>
                <a:cubicBezTo>
                  <a:pt x="421" y="893"/>
                  <a:pt x="270" y="764"/>
                  <a:pt x="256" y="593"/>
                </a:cubicBezTo>
                <a:cubicBezTo>
                  <a:pt x="243" y="421"/>
                  <a:pt x="371" y="270"/>
                  <a:pt x="543" y="256"/>
                </a:cubicBezTo>
                <a:cubicBezTo>
                  <a:pt x="714" y="242"/>
                  <a:pt x="865" y="370"/>
                  <a:pt x="879" y="542"/>
                </a:cubicBezTo>
                <a:cubicBezTo>
                  <a:pt x="893" y="714"/>
                  <a:pt x="765" y="865"/>
                  <a:pt x="593" y="8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9" name="组合 10"/>
          <p:cNvGrpSpPr/>
          <p:nvPr/>
        </p:nvGrpSpPr>
        <p:grpSpPr bwMode="auto">
          <a:xfrm>
            <a:off x="299720" y="2007235"/>
            <a:ext cx="436880" cy="831215"/>
            <a:chOff x="0" y="0"/>
            <a:chExt cx="960900" cy="1913939"/>
          </a:xfrm>
          <a:solidFill>
            <a:schemeClr val="accent2"/>
          </a:solidFill>
        </p:grpSpPr>
        <p:sp>
          <p:nvSpPr>
            <p:cNvPr id="10" name="Freeform 254"/>
            <p:cNvSpPr>
              <a:spLocks noChangeArrowheads="1"/>
            </p:cNvSpPr>
            <p:nvPr/>
          </p:nvSpPr>
          <p:spPr bwMode="auto">
            <a:xfrm>
              <a:off x="99379" y="0"/>
              <a:ext cx="478886" cy="229617"/>
            </a:xfrm>
            <a:custGeom>
              <a:avLst/>
              <a:gdLst>
                <a:gd name="T0" fmla="*/ 340912396 w 651"/>
                <a:gd name="T1" fmla="*/ 146920401 h 313"/>
                <a:gd name="T2" fmla="*/ 318726219 w 651"/>
                <a:gd name="T3" fmla="*/ 146920401 h 313"/>
                <a:gd name="T4" fmla="*/ 164503594 w 651"/>
                <a:gd name="T5" fmla="*/ 0 h 313"/>
                <a:gd name="T6" fmla="*/ 10281704 w 651"/>
                <a:gd name="T7" fmla="*/ 145844209 h 313"/>
                <a:gd name="T8" fmla="*/ 0 w 651"/>
                <a:gd name="T9" fmla="*/ 157145326 h 313"/>
                <a:gd name="T10" fmla="*/ 11363796 w 651"/>
                <a:gd name="T11" fmla="*/ 168447178 h 313"/>
                <a:gd name="T12" fmla="*/ 340912396 w 651"/>
                <a:gd name="T13" fmla="*/ 168447178 h 313"/>
                <a:gd name="T14" fmla="*/ 352276192 w 651"/>
                <a:gd name="T15" fmla="*/ 157683789 h 313"/>
                <a:gd name="T16" fmla="*/ 340912396 w 651"/>
                <a:gd name="T17" fmla="*/ 146920401 h 3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1"/>
                <a:gd name="T28" fmla="*/ 0 h 313"/>
                <a:gd name="T29" fmla="*/ 651 w 651"/>
                <a:gd name="T30" fmla="*/ 313 h 3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1" h="313">
                  <a:moveTo>
                    <a:pt x="630" y="273"/>
                  </a:moveTo>
                  <a:cubicBezTo>
                    <a:pt x="589" y="273"/>
                    <a:pt x="589" y="273"/>
                    <a:pt x="589" y="273"/>
                  </a:cubicBezTo>
                  <a:cubicBezTo>
                    <a:pt x="578" y="113"/>
                    <a:pt x="454" y="0"/>
                    <a:pt x="304" y="0"/>
                  </a:cubicBezTo>
                  <a:cubicBezTo>
                    <a:pt x="153" y="0"/>
                    <a:pt x="30" y="116"/>
                    <a:pt x="19" y="271"/>
                  </a:cubicBezTo>
                  <a:cubicBezTo>
                    <a:pt x="9" y="272"/>
                    <a:pt x="0" y="281"/>
                    <a:pt x="0" y="292"/>
                  </a:cubicBezTo>
                  <a:cubicBezTo>
                    <a:pt x="0" y="303"/>
                    <a:pt x="10" y="313"/>
                    <a:pt x="21" y="313"/>
                  </a:cubicBezTo>
                  <a:cubicBezTo>
                    <a:pt x="630" y="313"/>
                    <a:pt x="630" y="313"/>
                    <a:pt x="630" y="313"/>
                  </a:cubicBezTo>
                  <a:cubicBezTo>
                    <a:pt x="642" y="313"/>
                    <a:pt x="651" y="304"/>
                    <a:pt x="651" y="293"/>
                  </a:cubicBezTo>
                  <a:cubicBezTo>
                    <a:pt x="651" y="282"/>
                    <a:pt x="642" y="273"/>
                    <a:pt x="630" y="273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255"/>
            <p:cNvSpPr>
              <a:spLocks noChangeArrowheads="1"/>
            </p:cNvSpPr>
            <p:nvPr/>
          </p:nvSpPr>
          <p:spPr bwMode="auto">
            <a:xfrm>
              <a:off x="0" y="71987"/>
              <a:ext cx="960900" cy="1841952"/>
            </a:xfrm>
            <a:custGeom>
              <a:avLst/>
              <a:gdLst>
                <a:gd name="T0" fmla="*/ 348206783 w 1488"/>
                <a:gd name="T1" fmla="*/ 298653736 h 2854"/>
                <a:gd name="T2" fmla="*/ 354878839 w 1488"/>
                <a:gd name="T3" fmla="*/ 294904647 h 2854"/>
                <a:gd name="T4" fmla="*/ 520850421 w 1488"/>
                <a:gd name="T5" fmla="*/ 28324368 h 2854"/>
                <a:gd name="T6" fmla="*/ 590908942 w 1488"/>
                <a:gd name="T7" fmla="*/ 14995064 h 2854"/>
                <a:gd name="T8" fmla="*/ 605087383 w 1488"/>
                <a:gd name="T9" fmla="*/ 82889776 h 2854"/>
                <a:gd name="T10" fmla="*/ 371142459 w 1488"/>
                <a:gd name="T11" fmla="*/ 447355541 h 2854"/>
                <a:gd name="T12" fmla="*/ 369891610 w 1488"/>
                <a:gd name="T13" fmla="*/ 451937832 h 2854"/>
                <a:gd name="T14" fmla="*/ 369891610 w 1488"/>
                <a:gd name="T15" fmla="*/ 766002910 h 2854"/>
                <a:gd name="T16" fmla="*/ 369891610 w 1488"/>
                <a:gd name="T17" fmla="*/ 793910355 h 2854"/>
                <a:gd name="T18" fmla="*/ 369891610 w 1488"/>
                <a:gd name="T19" fmla="*/ 1134217118 h 2854"/>
                <a:gd name="T20" fmla="*/ 313177200 w 1488"/>
                <a:gd name="T21" fmla="*/ 1188783171 h 2854"/>
                <a:gd name="T22" fmla="*/ 312343516 w 1488"/>
                <a:gd name="T23" fmla="*/ 1188783171 h 2854"/>
                <a:gd name="T24" fmla="*/ 256046270 w 1488"/>
                <a:gd name="T25" fmla="*/ 1134217118 h 2854"/>
                <a:gd name="T26" fmla="*/ 256046270 w 1488"/>
                <a:gd name="T27" fmla="*/ 801824811 h 2854"/>
                <a:gd name="T28" fmla="*/ 248123366 w 1488"/>
                <a:gd name="T29" fmla="*/ 793910355 h 2854"/>
                <a:gd name="T30" fmla="*/ 240199815 w 1488"/>
                <a:gd name="T31" fmla="*/ 793910355 h 2854"/>
                <a:gd name="T32" fmla="*/ 232276910 w 1488"/>
                <a:gd name="T33" fmla="*/ 801824811 h 2854"/>
                <a:gd name="T34" fmla="*/ 232276910 w 1488"/>
                <a:gd name="T35" fmla="*/ 1134217118 h 2854"/>
                <a:gd name="T36" fmla="*/ 175563146 w 1488"/>
                <a:gd name="T37" fmla="*/ 1188783171 h 2854"/>
                <a:gd name="T38" fmla="*/ 174728816 w 1488"/>
                <a:gd name="T39" fmla="*/ 1188783171 h 2854"/>
                <a:gd name="T40" fmla="*/ 118015052 w 1488"/>
                <a:gd name="T41" fmla="*/ 1134217118 h 2854"/>
                <a:gd name="T42" fmla="*/ 118015052 w 1488"/>
                <a:gd name="T43" fmla="*/ 793910355 h 2854"/>
                <a:gd name="T44" fmla="*/ 118015052 w 1488"/>
                <a:gd name="T45" fmla="*/ 766002910 h 2854"/>
                <a:gd name="T46" fmla="*/ 118015052 w 1488"/>
                <a:gd name="T47" fmla="*/ 459435364 h 2854"/>
                <a:gd name="T48" fmla="*/ 109674336 w 1488"/>
                <a:gd name="T49" fmla="*/ 451937832 h 2854"/>
                <a:gd name="T50" fmla="*/ 109674336 w 1488"/>
                <a:gd name="T51" fmla="*/ 451937832 h 2854"/>
                <a:gd name="T52" fmla="*/ 102585116 w 1488"/>
                <a:gd name="T53" fmla="*/ 459435364 h 2854"/>
                <a:gd name="T54" fmla="*/ 102585116 w 1488"/>
                <a:gd name="T55" fmla="*/ 713103262 h 2854"/>
                <a:gd name="T56" fmla="*/ 51292558 w 1488"/>
                <a:gd name="T57" fmla="*/ 762253822 h 2854"/>
                <a:gd name="T58" fmla="*/ 0 w 1488"/>
                <a:gd name="T59" fmla="*/ 713103262 h 2854"/>
                <a:gd name="T60" fmla="*/ 0 w 1488"/>
                <a:gd name="T61" fmla="*/ 487342808 h 2854"/>
                <a:gd name="T62" fmla="*/ 0 w 1488"/>
                <a:gd name="T63" fmla="*/ 426529350 h 2854"/>
                <a:gd name="T64" fmla="*/ 0 w 1488"/>
                <a:gd name="T65" fmla="*/ 306567546 h 2854"/>
                <a:gd name="T66" fmla="*/ 7923550 w 1488"/>
                <a:gd name="T67" fmla="*/ 298653736 h 2854"/>
                <a:gd name="T68" fmla="*/ 348206783 w 1488"/>
                <a:gd name="T69" fmla="*/ 298653736 h 285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8"/>
                <a:gd name="T106" fmla="*/ 0 h 2854"/>
                <a:gd name="T107" fmla="*/ 1488 w 1488"/>
                <a:gd name="T108" fmla="*/ 2854 h 285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8" h="2854">
                  <a:moveTo>
                    <a:pt x="835" y="717"/>
                  </a:moveTo>
                  <a:cubicBezTo>
                    <a:pt x="841" y="717"/>
                    <a:pt x="847" y="714"/>
                    <a:pt x="851" y="708"/>
                  </a:cubicBezTo>
                  <a:cubicBezTo>
                    <a:pt x="1249" y="68"/>
                    <a:pt x="1249" y="68"/>
                    <a:pt x="1249" y="68"/>
                  </a:cubicBezTo>
                  <a:cubicBezTo>
                    <a:pt x="1286" y="14"/>
                    <a:pt x="1361" y="0"/>
                    <a:pt x="1417" y="36"/>
                  </a:cubicBezTo>
                  <a:cubicBezTo>
                    <a:pt x="1473" y="72"/>
                    <a:pt x="1488" y="145"/>
                    <a:pt x="1451" y="199"/>
                  </a:cubicBezTo>
                  <a:cubicBezTo>
                    <a:pt x="890" y="1074"/>
                    <a:pt x="890" y="1074"/>
                    <a:pt x="890" y="1074"/>
                  </a:cubicBezTo>
                  <a:cubicBezTo>
                    <a:pt x="888" y="1077"/>
                    <a:pt x="887" y="1081"/>
                    <a:pt x="887" y="1085"/>
                  </a:cubicBezTo>
                  <a:cubicBezTo>
                    <a:pt x="887" y="1839"/>
                    <a:pt x="887" y="1839"/>
                    <a:pt x="887" y="1839"/>
                  </a:cubicBezTo>
                  <a:cubicBezTo>
                    <a:pt x="887" y="1906"/>
                    <a:pt x="887" y="1906"/>
                    <a:pt x="887" y="1906"/>
                  </a:cubicBezTo>
                  <a:cubicBezTo>
                    <a:pt x="887" y="2723"/>
                    <a:pt x="887" y="2723"/>
                    <a:pt x="887" y="2723"/>
                  </a:cubicBezTo>
                  <a:cubicBezTo>
                    <a:pt x="887" y="2795"/>
                    <a:pt x="826" y="2854"/>
                    <a:pt x="751" y="2854"/>
                  </a:cubicBezTo>
                  <a:cubicBezTo>
                    <a:pt x="749" y="2854"/>
                    <a:pt x="749" y="2854"/>
                    <a:pt x="749" y="2854"/>
                  </a:cubicBezTo>
                  <a:cubicBezTo>
                    <a:pt x="675" y="2854"/>
                    <a:pt x="614" y="2795"/>
                    <a:pt x="614" y="2723"/>
                  </a:cubicBezTo>
                  <a:cubicBezTo>
                    <a:pt x="614" y="1925"/>
                    <a:pt x="614" y="1925"/>
                    <a:pt x="614" y="1925"/>
                  </a:cubicBezTo>
                  <a:cubicBezTo>
                    <a:pt x="614" y="1914"/>
                    <a:pt x="605" y="1906"/>
                    <a:pt x="595" y="1906"/>
                  </a:cubicBezTo>
                  <a:cubicBezTo>
                    <a:pt x="576" y="1906"/>
                    <a:pt x="576" y="1906"/>
                    <a:pt x="576" y="1906"/>
                  </a:cubicBezTo>
                  <a:cubicBezTo>
                    <a:pt x="565" y="1906"/>
                    <a:pt x="557" y="1914"/>
                    <a:pt x="557" y="1925"/>
                  </a:cubicBezTo>
                  <a:cubicBezTo>
                    <a:pt x="557" y="2723"/>
                    <a:pt x="557" y="2723"/>
                    <a:pt x="557" y="2723"/>
                  </a:cubicBezTo>
                  <a:cubicBezTo>
                    <a:pt x="557" y="2795"/>
                    <a:pt x="495" y="2854"/>
                    <a:pt x="421" y="2854"/>
                  </a:cubicBezTo>
                  <a:cubicBezTo>
                    <a:pt x="419" y="2854"/>
                    <a:pt x="419" y="2854"/>
                    <a:pt x="419" y="2854"/>
                  </a:cubicBezTo>
                  <a:cubicBezTo>
                    <a:pt x="344" y="2854"/>
                    <a:pt x="283" y="2795"/>
                    <a:pt x="283" y="2723"/>
                  </a:cubicBezTo>
                  <a:cubicBezTo>
                    <a:pt x="283" y="1906"/>
                    <a:pt x="283" y="1906"/>
                    <a:pt x="283" y="1906"/>
                  </a:cubicBezTo>
                  <a:cubicBezTo>
                    <a:pt x="283" y="1839"/>
                    <a:pt x="283" y="1839"/>
                    <a:pt x="283" y="1839"/>
                  </a:cubicBezTo>
                  <a:cubicBezTo>
                    <a:pt x="283" y="1103"/>
                    <a:pt x="283" y="1103"/>
                    <a:pt x="283" y="1103"/>
                  </a:cubicBezTo>
                  <a:cubicBezTo>
                    <a:pt x="283" y="1092"/>
                    <a:pt x="274" y="1084"/>
                    <a:pt x="263" y="1085"/>
                  </a:cubicBezTo>
                  <a:cubicBezTo>
                    <a:pt x="263" y="1085"/>
                    <a:pt x="263" y="1085"/>
                    <a:pt x="263" y="1085"/>
                  </a:cubicBezTo>
                  <a:cubicBezTo>
                    <a:pt x="253" y="1086"/>
                    <a:pt x="246" y="1094"/>
                    <a:pt x="246" y="1103"/>
                  </a:cubicBezTo>
                  <a:cubicBezTo>
                    <a:pt x="246" y="1712"/>
                    <a:pt x="246" y="1712"/>
                    <a:pt x="246" y="1712"/>
                  </a:cubicBezTo>
                  <a:cubicBezTo>
                    <a:pt x="246" y="1778"/>
                    <a:pt x="190" y="1830"/>
                    <a:pt x="123" y="1830"/>
                  </a:cubicBezTo>
                  <a:cubicBezTo>
                    <a:pt x="56" y="1830"/>
                    <a:pt x="0" y="1778"/>
                    <a:pt x="0" y="1712"/>
                  </a:cubicBezTo>
                  <a:cubicBezTo>
                    <a:pt x="0" y="1170"/>
                    <a:pt x="0" y="1170"/>
                    <a:pt x="0" y="1170"/>
                  </a:cubicBezTo>
                  <a:cubicBezTo>
                    <a:pt x="0" y="1024"/>
                    <a:pt x="0" y="1024"/>
                    <a:pt x="0" y="1024"/>
                  </a:cubicBezTo>
                  <a:cubicBezTo>
                    <a:pt x="0" y="736"/>
                    <a:pt x="0" y="736"/>
                    <a:pt x="0" y="736"/>
                  </a:cubicBezTo>
                  <a:cubicBezTo>
                    <a:pt x="0" y="726"/>
                    <a:pt x="9" y="717"/>
                    <a:pt x="19" y="717"/>
                  </a:cubicBezTo>
                  <a:lnTo>
                    <a:pt x="835" y="717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2" name="Freeform 256"/>
            <p:cNvSpPr>
              <a:spLocks noChangeArrowheads="1"/>
            </p:cNvSpPr>
            <p:nvPr/>
          </p:nvSpPr>
          <p:spPr bwMode="auto">
            <a:xfrm>
              <a:off x="124449" y="273027"/>
              <a:ext cx="394073" cy="213068"/>
            </a:xfrm>
            <a:custGeom>
              <a:avLst/>
              <a:gdLst>
                <a:gd name="T0" fmla="*/ 542863 w 535"/>
                <a:gd name="T1" fmla="*/ 0 h 290"/>
                <a:gd name="T2" fmla="*/ 0 w 535"/>
                <a:gd name="T3" fmla="*/ 11875969 h 290"/>
                <a:gd name="T4" fmla="*/ 144862708 w 535"/>
                <a:gd name="T5" fmla="*/ 156544733 h 290"/>
                <a:gd name="T6" fmla="*/ 290268279 w 535"/>
                <a:gd name="T7" fmla="*/ 11875969 h 290"/>
                <a:gd name="T8" fmla="*/ 289725416 w 535"/>
                <a:gd name="T9" fmla="*/ 0 h 290"/>
                <a:gd name="T10" fmla="*/ 542863 w 535"/>
                <a:gd name="T11" fmla="*/ 0 h 2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5"/>
                <a:gd name="T19" fmla="*/ 0 h 290"/>
                <a:gd name="T20" fmla="*/ 535 w 535"/>
                <a:gd name="T21" fmla="*/ 290 h 2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5" h="290">
                  <a:moveTo>
                    <a:pt x="1" y="0"/>
                  </a:moveTo>
                  <a:cubicBezTo>
                    <a:pt x="0" y="7"/>
                    <a:pt x="0" y="15"/>
                    <a:pt x="0" y="22"/>
                  </a:cubicBezTo>
                  <a:cubicBezTo>
                    <a:pt x="0" y="170"/>
                    <a:pt x="120" y="290"/>
                    <a:pt x="267" y="290"/>
                  </a:cubicBezTo>
                  <a:cubicBezTo>
                    <a:pt x="415" y="290"/>
                    <a:pt x="535" y="170"/>
                    <a:pt x="535" y="22"/>
                  </a:cubicBezTo>
                  <a:cubicBezTo>
                    <a:pt x="535" y="15"/>
                    <a:pt x="534" y="7"/>
                    <a:pt x="534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二、人员分工及项目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开发计划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1547495" y="699770"/>
          <a:ext cx="4241800" cy="4397375"/>
        </p:xfrm>
        <a:graphic>
          <a:graphicData uri="http://schemas.openxmlformats.org/drawingml/2006/table">
            <a:tbl>
              <a:tblPr/>
              <a:tblGrid>
                <a:gridCol w="538480"/>
                <a:gridCol w="622300"/>
                <a:gridCol w="1952625"/>
                <a:gridCol w="1128395"/>
              </a:tblGrid>
              <a:tr h="26733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项目成员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负责模块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具体工作内容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关联文件任务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137096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王梦俊</a:t>
                      </a:r>
                      <a:endParaRPr lang="en-US" altLang="zh-CN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数据准备与清洗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导入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TMDB 5000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电影数据集（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movies_df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credits_df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重命名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credits_df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 “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movie_id”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列为 “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id”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，合并两个数据集；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处理缺失值（将预算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票房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值替换为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NaN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，删除关键列缺失行）；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格式字段（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genres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keywords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cast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crew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对应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movies_analyse.pdf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 “数据获取”“关键清洗步骤” 模块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36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刘玉达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特征工程与数据分析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release_date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提取年份特征，创建 “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year”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列；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计算利润率（（票房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预算）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预算）；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统计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1970-2017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年电影数量变化；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计算预算与票房的相关系数；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统计电影类型分布与顶级导演平均票房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对应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movies_analyse.pdf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 “特征工程”“多维度分析” 模块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121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刘守首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数据可视化与文档整理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Matplotlib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绘制趋势折线图、散点图；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Seaborn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绘制条形图，优化图表样式（如设置颜色、透明度、坐标轴）；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整理项目分析结论，编写过程文档与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PPT</a:t>
                      </a:r>
                      <a:endParaRPr lang="en-US" altLang="zh-CN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对应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movies_analyse.pdf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 “数据可视化” 模块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42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王玉枝、吴小贤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项目统筹与质量校验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制定项目开发计划，把控整体进度；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验证数据清洗准确性（如缺失值处理后的数据完整性）；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检查分析逻辑合理性（如导演筛选条件 “作品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≥3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部” 的科学性）；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优化代码规范性与运行效率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覆盖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movies_analyse.pdf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全流程质量管控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>
            <p:custDataLst>
              <p:tags r:id="rId2"/>
            </p:custDataLst>
          </p:nvPr>
        </p:nvGraphicFramePr>
        <p:xfrm>
          <a:off x="5868035" y="699770"/>
          <a:ext cx="2840355" cy="4370070"/>
        </p:xfrm>
        <a:graphic>
          <a:graphicData uri="http://schemas.openxmlformats.org/drawingml/2006/table">
            <a:tbl>
              <a:tblPr/>
              <a:tblGrid>
                <a:gridCol w="411480"/>
                <a:gridCol w="1282700"/>
                <a:gridCol w="1146175"/>
              </a:tblGrid>
              <a:tr h="2647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核心任务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交付成果</a:t>
                      </a:r>
                      <a:endParaRPr lang="zh-CN" altLang="en-US" sz="9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97345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需求分析与准备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明确项目分析目标与维度；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下载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TMDB 5000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数据集；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搭建开发环境（安装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Pandas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Matplotlib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等）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数据集文件、开发环境配置文档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295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数据清洗与特征工程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合并数据集；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处理缺失值与异常值；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字段；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创建年份、利润率特征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清洗后的数据集（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df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）、特征工程代码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295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多维度分析与可视化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分析电影数量宏观趋势；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计算预算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票房相关性并绘图；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统计电影类型与导演票房；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优化图表样式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分析结果表格、可视化图表（折线图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散点图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条形图）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295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文档整理与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PPT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制作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整理过程文档（代码注释、分析报告）；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制作项目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PPT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校验数据准确性与结论合理性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项目过程文档、最终 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PPT</a:t>
                      </a:r>
                      <a:endParaRPr lang="en-US" altLang="zh-CN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295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项目验收与总结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团队内部评审项目成果；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修正存在的问题（如图表标注错误、分析逻辑漏洞）；</a:t>
                      </a:r>
                      <a:r>
                        <a:rPr lang="en-US" altLang="zh-CN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总结项目经验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i="0" spc="6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验收报告、项目总结文档</a:t>
                      </a:r>
                      <a:endParaRPr lang="zh-CN" altLang="en-US" sz="700" b="0" i="0" spc="6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5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id="3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id="39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4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6" grpId="0" bldLvl="0" animBg="1"/>
      <p:bldP spid="6" grpId="1" bldLvl="0" animBg="1"/>
      <p:bldP spid="7" grpId="0" bldLvl="0" animBg="1"/>
      <p:bldP spid="7" grpId="1" bldLvl="0" animBg="1"/>
      <p:bldP spid="8" grpId="0" bldLvl="0" animBg="1"/>
      <p:bldP spid="8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546695" y="2857021"/>
            <a:ext cx="1627582" cy="1385713"/>
            <a:chOff x="4208894" y="3762612"/>
            <a:chExt cx="1822450" cy="1551623"/>
          </a:xfrm>
        </p:grpSpPr>
        <p:sp>
          <p:nvSpPr>
            <p:cNvPr id="6" name="等腰三角形 5"/>
            <p:cNvSpPr/>
            <p:nvPr/>
          </p:nvSpPr>
          <p:spPr>
            <a:xfrm rot="10800000">
              <a:off x="4208894" y="3762612"/>
              <a:ext cx="1822450" cy="1551623"/>
            </a:xfrm>
            <a:prstGeom prst="triangl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srgbClr val="F8F8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7" name="TextBox 3"/>
            <p:cNvSpPr txBox="1"/>
            <p:nvPr/>
          </p:nvSpPr>
          <p:spPr>
            <a:xfrm>
              <a:off x="4711452" y="3969357"/>
              <a:ext cx="824027" cy="65343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srgbClr val="F8F8F8"/>
                  </a:solidFill>
                  <a:cs typeface="+mn-ea"/>
                  <a:sym typeface="+mn-lt"/>
                </a:rPr>
                <a:t>需求分析</a:t>
              </a:r>
              <a:endParaRPr lang="zh-CN" altLang="en-US" sz="1600" kern="0" dirty="0">
                <a:solidFill>
                  <a:srgbClr val="F8F8F8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567339" y="2959797"/>
            <a:ext cx="1576321" cy="1340149"/>
            <a:chOff x="5237842" y="4004098"/>
            <a:chExt cx="1765052" cy="1500603"/>
          </a:xfrm>
        </p:grpSpPr>
        <p:sp>
          <p:nvSpPr>
            <p:cNvPr id="9" name="等腰三角形 7"/>
            <p:cNvSpPr/>
            <p:nvPr/>
          </p:nvSpPr>
          <p:spPr>
            <a:xfrm>
              <a:off x="5237842" y="4004098"/>
              <a:ext cx="1765052" cy="1500603"/>
            </a:xfrm>
            <a:custGeom>
              <a:avLst/>
              <a:gdLst/>
              <a:ahLst/>
              <a:cxnLst/>
              <a:rect l="l" t="t" r="r" b="b"/>
              <a:pathLst>
                <a:path w="1765052" h="1500603">
                  <a:moveTo>
                    <a:pt x="882526" y="0"/>
                  </a:moveTo>
                  <a:lnTo>
                    <a:pt x="1765052" y="1500603"/>
                  </a:lnTo>
                  <a:lnTo>
                    <a:pt x="0" y="1500603"/>
                  </a:lnTo>
                  <a:lnTo>
                    <a:pt x="375894" y="861452"/>
                  </a:lnTo>
                  <a:lnTo>
                    <a:pt x="464514" y="915388"/>
                  </a:lnTo>
                  <a:lnTo>
                    <a:pt x="392059" y="1034436"/>
                  </a:lnTo>
                  <a:lnTo>
                    <a:pt x="748236" y="924919"/>
                  </a:lnTo>
                  <a:lnTo>
                    <a:pt x="681880" y="558240"/>
                  </a:lnTo>
                  <a:lnTo>
                    <a:pt x="609424" y="677289"/>
                  </a:lnTo>
                  <a:lnTo>
                    <a:pt x="517210" y="621166"/>
                  </a:lnTo>
                  <a:close/>
                </a:path>
              </a:pathLst>
            </a:custGeom>
            <a:solidFill>
              <a:schemeClr val="accent2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srgbClr val="F8F8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TextBox 6"/>
            <p:cNvSpPr txBox="1"/>
            <p:nvPr/>
          </p:nvSpPr>
          <p:spPr>
            <a:xfrm>
              <a:off x="5454911" y="5021270"/>
              <a:ext cx="1342420" cy="377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srgbClr val="FFFFFF"/>
                  </a:solidFill>
                  <a:cs typeface="+mn-ea"/>
                  <a:sym typeface="+mn-lt"/>
                </a:rPr>
                <a:t>非功能需求</a:t>
              </a:r>
              <a:endParaRPr lang="zh-CN" altLang="en-US" sz="1600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81865" y="1348208"/>
            <a:ext cx="1604674" cy="1311991"/>
            <a:chOff x="4244067" y="2343574"/>
            <a:chExt cx="1796802" cy="1469072"/>
          </a:xfrm>
        </p:grpSpPr>
        <p:sp>
          <p:nvSpPr>
            <p:cNvPr id="12" name="等腰三角形 6"/>
            <p:cNvSpPr/>
            <p:nvPr/>
          </p:nvSpPr>
          <p:spPr>
            <a:xfrm>
              <a:off x="4244067" y="2343574"/>
              <a:ext cx="1796802" cy="1469072"/>
            </a:xfrm>
            <a:custGeom>
              <a:avLst/>
              <a:gdLst/>
              <a:ahLst/>
              <a:cxnLst/>
              <a:rect l="l" t="t" r="r" b="b"/>
              <a:pathLst>
                <a:path w="1796802" h="1469072">
                  <a:moveTo>
                    <a:pt x="898401" y="0"/>
                  </a:moveTo>
                  <a:lnTo>
                    <a:pt x="1796802" y="1469072"/>
                  </a:lnTo>
                  <a:lnTo>
                    <a:pt x="1015417" y="1469072"/>
                  </a:lnTo>
                  <a:lnTo>
                    <a:pt x="1015417" y="1372637"/>
                  </a:lnTo>
                  <a:lnTo>
                    <a:pt x="1154781" y="1372637"/>
                  </a:lnTo>
                  <a:lnTo>
                    <a:pt x="876052" y="1125318"/>
                  </a:lnTo>
                  <a:lnTo>
                    <a:pt x="597323" y="1372637"/>
                  </a:lnTo>
                  <a:lnTo>
                    <a:pt x="736688" y="1372637"/>
                  </a:lnTo>
                  <a:lnTo>
                    <a:pt x="736688" y="1469072"/>
                  </a:lnTo>
                  <a:lnTo>
                    <a:pt x="0" y="1469072"/>
                  </a:lnTo>
                  <a:close/>
                </a:path>
              </a:pathLst>
            </a:custGeom>
            <a:solidFill>
              <a:schemeClr val="accent2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srgbClr val="F8F8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4577115" y="3047006"/>
              <a:ext cx="1114893" cy="377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srgbClr val="FFFFFF"/>
                  </a:solidFill>
                  <a:cs typeface="+mn-ea"/>
                  <a:sym typeface="+mn-lt"/>
                </a:rPr>
                <a:t>功能需求</a:t>
              </a:r>
              <a:endParaRPr lang="zh-CN" altLang="en-US" sz="1600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613495" y="2959797"/>
            <a:ext cx="1576321" cy="1340149"/>
            <a:chOff x="3275692" y="4004098"/>
            <a:chExt cx="1765052" cy="1500603"/>
          </a:xfrm>
        </p:grpSpPr>
        <p:sp>
          <p:nvSpPr>
            <p:cNvPr id="15" name="等腰三角形 11"/>
            <p:cNvSpPr/>
            <p:nvPr/>
          </p:nvSpPr>
          <p:spPr>
            <a:xfrm>
              <a:off x="3275692" y="4004098"/>
              <a:ext cx="1765052" cy="1500603"/>
            </a:xfrm>
            <a:custGeom>
              <a:avLst/>
              <a:gdLst/>
              <a:ahLst/>
              <a:cxnLst/>
              <a:rect l="l" t="t" r="r" b="b"/>
              <a:pathLst>
                <a:path w="1765052" h="1500603">
                  <a:moveTo>
                    <a:pt x="882526" y="0"/>
                  </a:moveTo>
                  <a:lnTo>
                    <a:pt x="1236032" y="601083"/>
                  </a:lnTo>
                  <a:lnTo>
                    <a:pt x="1121186" y="667974"/>
                  </a:lnTo>
                  <a:lnTo>
                    <a:pt x="1051045" y="547547"/>
                  </a:lnTo>
                  <a:lnTo>
                    <a:pt x="977616" y="912876"/>
                  </a:lnTo>
                  <a:lnTo>
                    <a:pt x="1331611" y="1029255"/>
                  </a:lnTo>
                  <a:lnTo>
                    <a:pt x="1261469" y="908828"/>
                  </a:lnTo>
                  <a:lnTo>
                    <a:pt x="1377332" y="841344"/>
                  </a:lnTo>
                  <a:lnTo>
                    <a:pt x="1765052" y="1500603"/>
                  </a:lnTo>
                  <a:lnTo>
                    <a:pt x="0" y="1500603"/>
                  </a:lnTo>
                  <a:close/>
                </a:path>
              </a:pathLst>
            </a:custGeom>
            <a:solidFill>
              <a:schemeClr val="accent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srgbClr val="F8F8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6" name="TextBox 12"/>
            <p:cNvSpPr txBox="1"/>
            <p:nvPr/>
          </p:nvSpPr>
          <p:spPr>
            <a:xfrm>
              <a:off x="3533747" y="4936591"/>
              <a:ext cx="1114892" cy="377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srgbClr val="FFFFFF"/>
                  </a:solidFill>
                  <a:cs typeface="+mn-ea"/>
                  <a:sym typeface="+mn-lt"/>
                </a:rPr>
                <a:t>业务需求</a:t>
              </a:r>
              <a:endParaRPr lang="zh-CN" altLang="en-US" sz="1600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4999387" y="2437267"/>
            <a:ext cx="2548069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  <a:effectLst/>
        </p:spPr>
      </p:cxnSp>
      <p:cxnSp>
        <p:nvCxnSpPr>
          <p:cNvPr id="29" name="直接连接符 28"/>
          <p:cNvCxnSpPr/>
          <p:nvPr/>
        </p:nvCxnSpPr>
        <p:spPr>
          <a:xfrm flipH="1">
            <a:off x="467415" y="4150800"/>
            <a:ext cx="2593242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  <a:effectLst/>
        </p:spPr>
      </p:cxnSp>
      <p:cxnSp>
        <p:nvCxnSpPr>
          <p:cNvPr id="35" name="直接连接符 34"/>
          <p:cNvCxnSpPr/>
          <p:nvPr/>
        </p:nvCxnSpPr>
        <p:spPr>
          <a:xfrm flipH="1">
            <a:off x="5927177" y="4072961"/>
            <a:ext cx="2548069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三、需求分析、图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表与原型设计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Box 11"/>
          <p:cNvSpPr txBox="1">
            <a:spLocks noChangeArrowheads="1"/>
          </p:cNvSpPr>
          <p:nvPr/>
        </p:nvSpPr>
        <p:spPr bwMode="auto">
          <a:xfrm flipH="1">
            <a:off x="516255" y="1885315"/>
            <a:ext cx="2323465" cy="19075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影视行业从业者需通过历史电影数据，了解行业趋势、评估投资回报等降低投资风险，提升项目成功率。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如数据准确性、可视化清晰度、代码可复用性。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Box 11"/>
          <p:cNvSpPr txBox="1">
            <a:spLocks noChangeArrowheads="1"/>
          </p:cNvSpPr>
          <p:nvPr/>
        </p:nvSpPr>
        <p:spPr bwMode="auto">
          <a:xfrm flipH="1">
            <a:off x="5219688" y="1087854"/>
            <a:ext cx="1628775" cy="12712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如数据整合、数据清洗、特征衍生、多维分析及可视化。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TextBox 11"/>
          <p:cNvSpPr txBox="1">
            <a:spLocks noChangeArrowheads="1"/>
          </p:cNvSpPr>
          <p:nvPr/>
        </p:nvSpPr>
        <p:spPr bwMode="auto">
          <a:xfrm flipH="1">
            <a:off x="6143747" y="2878779"/>
            <a:ext cx="1628775" cy="13220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如数据整合、数据清洗、特征衍生、多维分析及可视化。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1"/>
            </p:custDataLst>
          </p:nvPr>
        </p:nvGraphicFramePr>
        <p:xfrm>
          <a:off x="892175" y="699770"/>
          <a:ext cx="7332345" cy="39243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444115"/>
                <a:gridCol w="2444115"/>
                <a:gridCol w="2444115"/>
              </a:tblGrid>
              <a:tr h="5200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参与者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587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王梦俊</a:t>
                      </a:r>
                      <a:endParaRPr 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获取数据集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 Kaggle 平台获取 TMDB 5000 Movie Dataset 数据集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680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刘守首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探索数据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查看数据基本信息、统计摘要等，了解数据概况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842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刘玉达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清洗数据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合并数据集、处理缺失值和异常值、转换数据类型、创建新特征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519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王玉枝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绘制各类图表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5200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吴小贤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分析数据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分析数据并得出结论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8600" marR="228600" marT="152400" marB="15240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518257" y="712786"/>
            <a:ext cx="1081050" cy="1290638"/>
            <a:chOff x="4028841" y="1276276"/>
            <a:chExt cx="1081050" cy="1290638"/>
          </a:xfrm>
        </p:grpSpPr>
        <p:sp>
          <p:nvSpPr>
            <p:cNvPr id="31" name="MH_Other_3"/>
            <p:cNvSpPr/>
            <p:nvPr>
              <p:custDataLst>
                <p:tags r:id="rId3"/>
              </p:custDataLst>
            </p:nvPr>
          </p:nvSpPr>
          <p:spPr bwMode="auto">
            <a:xfrm>
              <a:off x="4028841" y="1276276"/>
              <a:ext cx="540525" cy="1290638"/>
            </a:xfrm>
            <a:custGeom>
              <a:avLst/>
              <a:gdLst>
                <a:gd name="T0" fmla="*/ 0 w 514"/>
                <a:gd name="T1" fmla="*/ 474 h 1298"/>
                <a:gd name="T2" fmla="*/ 0 w 514"/>
                <a:gd name="T3" fmla="*/ 785 h 1298"/>
                <a:gd name="T4" fmla="*/ 514 w 514"/>
                <a:gd name="T5" fmla="*/ 1298 h 1298"/>
                <a:gd name="T6" fmla="*/ 514 w 514"/>
                <a:gd name="T7" fmla="*/ 0 h 1298"/>
                <a:gd name="T8" fmla="*/ 0 w 514"/>
                <a:gd name="T9" fmla="*/ 474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298">
                  <a:moveTo>
                    <a:pt x="0" y="474"/>
                  </a:moveTo>
                  <a:lnTo>
                    <a:pt x="0" y="785"/>
                  </a:lnTo>
                  <a:lnTo>
                    <a:pt x="514" y="1298"/>
                  </a:lnTo>
                  <a:lnTo>
                    <a:pt x="514" y="0"/>
                  </a:lnTo>
                  <a:lnTo>
                    <a:pt x="0" y="474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lIns="68580" tIns="34290" rIns="68580" bIns="34290"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2" name="MH_Other_4"/>
            <p:cNvSpPr/>
            <p:nvPr>
              <p:custDataLst>
                <p:tags r:id="rId4"/>
              </p:custDataLst>
            </p:nvPr>
          </p:nvSpPr>
          <p:spPr bwMode="auto">
            <a:xfrm>
              <a:off x="4569367" y="1276276"/>
              <a:ext cx="540524" cy="1290638"/>
            </a:xfrm>
            <a:custGeom>
              <a:avLst/>
              <a:gdLst>
                <a:gd name="T0" fmla="*/ 514 w 514"/>
                <a:gd name="T1" fmla="*/ 474 h 1298"/>
                <a:gd name="T2" fmla="*/ 514 w 514"/>
                <a:gd name="T3" fmla="*/ 785 h 1298"/>
                <a:gd name="T4" fmla="*/ 0 w 514"/>
                <a:gd name="T5" fmla="*/ 1298 h 1298"/>
                <a:gd name="T6" fmla="*/ 0 w 514"/>
                <a:gd name="T7" fmla="*/ 0 h 1298"/>
                <a:gd name="T8" fmla="*/ 514 w 514"/>
                <a:gd name="T9" fmla="*/ 474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298">
                  <a:moveTo>
                    <a:pt x="514" y="474"/>
                  </a:moveTo>
                  <a:lnTo>
                    <a:pt x="514" y="785"/>
                  </a:lnTo>
                  <a:lnTo>
                    <a:pt x="0" y="1298"/>
                  </a:lnTo>
                  <a:lnTo>
                    <a:pt x="0" y="0"/>
                  </a:lnTo>
                  <a:lnTo>
                    <a:pt x="514" y="4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68580" tIns="34290" rIns="68580" bIns="34290"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3" name="MH_Other_12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389191" y="1764432"/>
              <a:ext cx="372949" cy="315516"/>
            </a:xfrm>
            <a:custGeom>
              <a:avLst/>
              <a:gdLst>
                <a:gd name="T0" fmla="*/ 341775088 w 254"/>
                <a:gd name="T1" fmla="*/ 445069564 h 228"/>
                <a:gd name="T2" fmla="*/ 289406338 w 254"/>
                <a:gd name="T3" fmla="*/ 445069564 h 228"/>
                <a:gd name="T4" fmla="*/ 289406338 w 254"/>
                <a:gd name="T5" fmla="*/ 489026520 h 228"/>
                <a:gd name="T6" fmla="*/ 341775088 w 254"/>
                <a:gd name="T7" fmla="*/ 489026520 h 228"/>
                <a:gd name="T8" fmla="*/ 341775088 w 254"/>
                <a:gd name="T9" fmla="*/ 445069564 h 228"/>
                <a:gd name="T10" fmla="*/ 118517963 w 254"/>
                <a:gd name="T11" fmla="*/ 299461112 h 228"/>
                <a:gd name="T12" fmla="*/ 355555550 w 254"/>
                <a:gd name="T13" fmla="*/ 71430468 h 228"/>
                <a:gd name="T14" fmla="*/ 584323863 w 254"/>
                <a:gd name="T15" fmla="*/ 299461112 h 228"/>
                <a:gd name="T16" fmla="*/ 151593400 w 254"/>
                <a:gd name="T17" fmla="*/ 299461112 h 228"/>
                <a:gd name="T18" fmla="*/ 118517963 w 254"/>
                <a:gd name="T19" fmla="*/ 299461112 h 228"/>
                <a:gd name="T20" fmla="*/ 355555550 w 254"/>
                <a:gd name="T21" fmla="*/ 0 h 228"/>
                <a:gd name="T22" fmla="*/ 333505813 w 254"/>
                <a:gd name="T23" fmla="*/ 19230961 h 228"/>
                <a:gd name="T24" fmla="*/ 41343050 w 254"/>
                <a:gd name="T25" fmla="*/ 307702006 h 228"/>
                <a:gd name="T26" fmla="*/ 0 w 254"/>
                <a:gd name="T27" fmla="*/ 351660619 h 228"/>
                <a:gd name="T28" fmla="*/ 146080550 w 254"/>
                <a:gd name="T29" fmla="*/ 351660619 h 228"/>
                <a:gd name="T30" fmla="*/ 146080550 w 254"/>
                <a:gd name="T31" fmla="*/ 626394079 h 228"/>
                <a:gd name="T32" fmla="*/ 190181688 w 254"/>
                <a:gd name="T33" fmla="*/ 626394079 h 228"/>
                <a:gd name="T34" fmla="*/ 190181688 w 254"/>
                <a:gd name="T35" fmla="*/ 351660619 h 228"/>
                <a:gd name="T36" fmla="*/ 498881338 w 254"/>
                <a:gd name="T37" fmla="*/ 351660619 h 228"/>
                <a:gd name="T38" fmla="*/ 498881338 w 254"/>
                <a:gd name="T39" fmla="*/ 626394079 h 228"/>
                <a:gd name="T40" fmla="*/ 542980813 w 254"/>
                <a:gd name="T41" fmla="*/ 626394079 h 228"/>
                <a:gd name="T42" fmla="*/ 542980813 w 254"/>
                <a:gd name="T43" fmla="*/ 351660619 h 228"/>
                <a:gd name="T44" fmla="*/ 700087063 w 254"/>
                <a:gd name="T45" fmla="*/ 351660619 h 228"/>
                <a:gd name="T46" fmla="*/ 661498775 w 254"/>
                <a:gd name="T47" fmla="*/ 307702006 h 228"/>
                <a:gd name="T48" fmla="*/ 667011625 w 254"/>
                <a:gd name="T49" fmla="*/ 299461112 h 228"/>
                <a:gd name="T50" fmla="*/ 661498775 w 254"/>
                <a:gd name="T51" fmla="*/ 307702006 h 228"/>
                <a:gd name="T52" fmla="*/ 366581250 w 254"/>
                <a:gd name="T53" fmla="*/ 19230961 h 228"/>
                <a:gd name="T54" fmla="*/ 355555550 w 254"/>
                <a:gd name="T55" fmla="*/ 0 h 2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4" h="228">
                  <a:moveTo>
                    <a:pt x="124" y="162"/>
                  </a:moveTo>
                  <a:lnTo>
                    <a:pt x="105" y="162"/>
                  </a:lnTo>
                  <a:lnTo>
                    <a:pt x="105" y="178"/>
                  </a:lnTo>
                  <a:lnTo>
                    <a:pt x="124" y="178"/>
                  </a:lnTo>
                  <a:lnTo>
                    <a:pt x="124" y="162"/>
                  </a:lnTo>
                  <a:close/>
                  <a:moveTo>
                    <a:pt x="43" y="109"/>
                  </a:moveTo>
                  <a:lnTo>
                    <a:pt x="129" y="26"/>
                  </a:lnTo>
                  <a:lnTo>
                    <a:pt x="212" y="109"/>
                  </a:lnTo>
                  <a:lnTo>
                    <a:pt x="55" y="109"/>
                  </a:lnTo>
                  <a:lnTo>
                    <a:pt x="43" y="109"/>
                  </a:lnTo>
                  <a:close/>
                  <a:moveTo>
                    <a:pt x="129" y="0"/>
                  </a:moveTo>
                  <a:lnTo>
                    <a:pt x="121" y="7"/>
                  </a:lnTo>
                  <a:lnTo>
                    <a:pt x="15" y="112"/>
                  </a:lnTo>
                  <a:lnTo>
                    <a:pt x="0" y="128"/>
                  </a:lnTo>
                  <a:lnTo>
                    <a:pt x="53" y="128"/>
                  </a:lnTo>
                  <a:lnTo>
                    <a:pt x="53" y="228"/>
                  </a:lnTo>
                  <a:lnTo>
                    <a:pt x="69" y="228"/>
                  </a:lnTo>
                  <a:lnTo>
                    <a:pt x="69" y="128"/>
                  </a:lnTo>
                  <a:lnTo>
                    <a:pt x="181" y="128"/>
                  </a:lnTo>
                  <a:lnTo>
                    <a:pt x="181" y="228"/>
                  </a:lnTo>
                  <a:lnTo>
                    <a:pt x="197" y="228"/>
                  </a:lnTo>
                  <a:lnTo>
                    <a:pt x="197" y="128"/>
                  </a:lnTo>
                  <a:lnTo>
                    <a:pt x="254" y="128"/>
                  </a:lnTo>
                  <a:lnTo>
                    <a:pt x="240" y="112"/>
                  </a:lnTo>
                  <a:lnTo>
                    <a:pt x="242" y="109"/>
                  </a:lnTo>
                  <a:lnTo>
                    <a:pt x="240" y="112"/>
                  </a:lnTo>
                  <a:lnTo>
                    <a:pt x="133" y="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>
              <a:solidFill>
                <a:sysClr val="window" lastClr="FFFFFF"/>
              </a:solidFill>
              <a:round/>
            </a:ln>
          </p:spPr>
          <p:txBody>
            <a:bodyPr lIns="68580" tIns="34290" rIns="68580" bIns="34290"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619250" y="114808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原型设计</a:t>
            </a:r>
            <a:endParaRPr lang="zh-CN" altLang="en-US" sz="2000" b="1"/>
          </a:p>
        </p:txBody>
      </p:sp>
      <p:sp>
        <p:nvSpPr>
          <p:cNvPr id="25" name="文本框 24"/>
          <p:cNvSpPr txBox="1"/>
          <p:nvPr/>
        </p:nvSpPr>
        <p:spPr>
          <a:xfrm>
            <a:off x="2267585" y="1741805"/>
            <a:ext cx="40379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原型设计围绕</a:t>
            </a:r>
            <a:r>
              <a:rPr lang="en-US" altLang="zh-CN"/>
              <a:t> “</a:t>
            </a:r>
            <a:r>
              <a:rPr lang="zh-CN" altLang="en-US"/>
              <a:t>轻量化数据可视化展示与基础交互</a:t>
            </a:r>
            <a:r>
              <a:rPr lang="en-US" altLang="zh-CN"/>
              <a:t>” </a:t>
            </a:r>
            <a:r>
              <a:rPr lang="zh-CN" altLang="en-US"/>
              <a:t>核心目标展开，结合项目数据分析属性，采用低保真线框图形式（聚焦页面结构与功能逻辑，弱化视觉风格），覆盖用户查看分析结果、筛选关键维度的核心需求，能直观的呈现分析成果、基础的交互，</a:t>
            </a:r>
            <a:r>
              <a:rPr lang="zh-CN" altLang="en-US"/>
              <a:t>结构清晰。</a:t>
            </a:r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1763450" y="1645090"/>
            <a:ext cx="2593242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  <a:effectLst/>
        </p:spPr>
      </p:cxnSp>
    </p:spTree>
  </p:cSld>
  <p:clrMapOvr>
    <a:masterClrMapping/>
  </p:clrMapOvr>
  <p:transition spd="slow" advTm="9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1 0.00023 L -0.09464 -0.04669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5" y="-2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1 0.00046 L 0.09618 -0.04669 " pathEditMode="relative" rAng="0" ptsTypes="AA">
                                      <p:cBhvr>
                                        <p:cTn id="25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1" y="-2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349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849"/>
                            </p:stCondLst>
                            <p:childTnLst>
                              <p:par>
                                <p:cTn id="4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5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50"/>
                            </p:stCondLst>
                            <p:childTnLst>
                              <p:par>
                                <p:cTn id="5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  <p:bldP spid="39" grpId="1" animBg="1"/>
      <p:bldP spid="41" grpId="1" animBg="1"/>
      <p:bldP spid="43" grpId="1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H_Title_1"/>
          <p:cNvSpPr/>
          <p:nvPr>
            <p:custDataLst>
              <p:tags r:id="rId1"/>
            </p:custDataLst>
          </p:nvPr>
        </p:nvSpPr>
        <p:spPr bwMode="auto">
          <a:xfrm>
            <a:off x="755015" y="0"/>
            <a:ext cx="3409950" cy="63627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47000">
                <a:schemeClr val="accent1"/>
              </a:gs>
              <a:gs pos="82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>
                <a:solidFill>
                  <a:srgbClr val="FFFFFF"/>
                </a:solidFill>
                <a:cs typeface="+mn-ea"/>
                <a:sym typeface="+mn-lt"/>
              </a:rPr>
              <a:t>可视化图表</a:t>
            </a:r>
            <a:endParaRPr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1" name="图片 20" descr="post_object_image_27855627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5" y="691515"/>
            <a:ext cx="8654415" cy="4185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" y="699770"/>
            <a:ext cx="8010525" cy="4431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691515"/>
            <a:ext cx="7758430" cy="43611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" y="691515"/>
            <a:ext cx="7784465" cy="4219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50" y="691515"/>
            <a:ext cx="7870825" cy="42773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715510" y="51435"/>
            <a:ext cx="403923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功能说明：展示</a:t>
            </a:r>
            <a:r>
              <a:rPr lang="en-US" altLang="zh-CN" sz="1200" b="1"/>
              <a:t> 1970-2016 </a:t>
            </a:r>
            <a:r>
              <a:rPr lang="zh-CN" altLang="en-US" sz="1200" b="1"/>
              <a:t>年好莱坞电影数量的变化趋势，通过折线的起伏可直观观察到不同年份电影产量的增减情况，帮助分析电影行业的发展规模变化。</a:t>
            </a:r>
            <a:endParaRPr lang="zh-CN" altLang="en-US" sz="1200" b="1"/>
          </a:p>
        </p:txBody>
      </p:sp>
      <p:sp>
        <p:nvSpPr>
          <p:cNvPr id="12" name="文本框 11"/>
          <p:cNvSpPr txBox="1"/>
          <p:nvPr/>
        </p:nvSpPr>
        <p:spPr>
          <a:xfrm>
            <a:off x="4164965" y="0"/>
            <a:ext cx="4935220" cy="703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功能说明：以对数坐标轴展示电影预算与票房的分布关系，通过散点的聚集情况可判断两者的相关性，同时界面上会显示相关系数（本项目中为</a:t>
            </a:r>
            <a:r>
              <a:rPr lang="en-US" altLang="zh-CN" sz="1200" b="1"/>
              <a:t> 0.705</a:t>
            </a:r>
            <a:r>
              <a:rPr lang="zh-CN" altLang="en-US" sz="1200" b="1"/>
              <a:t>），量化预算与票房的相关程度，为电影投资决策提供参考。</a:t>
            </a:r>
            <a:endParaRPr lang="zh-CN" altLang="en-US" sz="1200" b="1"/>
          </a:p>
        </p:txBody>
      </p:sp>
      <p:sp>
        <p:nvSpPr>
          <p:cNvPr id="13" name="文本框 12"/>
          <p:cNvSpPr txBox="1"/>
          <p:nvPr/>
        </p:nvSpPr>
        <p:spPr>
          <a:xfrm>
            <a:off x="4715510" y="46355"/>
            <a:ext cx="3432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功能说明：展示出现频率最高的</a:t>
            </a:r>
            <a:r>
              <a:rPr lang="en-US" altLang="zh-CN" sz="1200" b="1"/>
              <a:t> 15 </a:t>
            </a:r>
            <a:r>
              <a:rPr lang="zh-CN" altLang="en-US" sz="1200" b="1"/>
              <a:t>种电影类型及其数量，清晰呈现好莱坞电影市场中不同类型电影的受欢迎程度，帮助了解市场主流电影类型。</a:t>
            </a:r>
            <a:endParaRPr lang="zh-CN" altLang="en-US" sz="1200" b="1"/>
          </a:p>
        </p:txBody>
      </p:sp>
      <p:sp>
        <p:nvSpPr>
          <p:cNvPr id="14" name="文本框 13"/>
          <p:cNvSpPr txBox="1"/>
          <p:nvPr/>
        </p:nvSpPr>
        <p:spPr>
          <a:xfrm>
            <a:off x="4715510" y="46355"/>
            <a:ext cx="3629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功能说明：展示执导电影数量不少于</a:t>
            </a:r>
            <a:r>
              <a:rPr lang="en-US" altLang="zh-CN" sz="1200" b="1"/>
              <a:t> 3 </a:t>
            </a:r>
            <a:r>
              <a:rPr lang="zh-CN" altLang="en-US" sz="1200" b="1"/>
              <a:t>部的顶级导演及其平均票房排名，直观反映不同导演的票房号召力，为电影制作方选择合作导演提供数据支持。</a:t>
            </a:r>
            <a:endParaRPr lang="zh-CN" altLang="en-US" sz="1200" b="1"/>
          </a:p>
        </p:txBody>
      </p:sp>
      <p:sp>
        <p:nvSpPr>
          <p:cNvPr id="15" name="文本框 14"/>
          <p:cNvSpPr txBox="1"/>
          <p:nvPr/>
        </p:nvSpPr>
        <p:spPr>
          <a:xfrm>
            <a:off x="4715510" y="0"/>
            <a:ext cx="3485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功能说明：展示参演电影数量不少于</a:t>
            </a:r>
            <a:r>
              <a:rPr lang="en-US" altLang="zh-CN" sz="1200" b="1"/>
              <a:t> 3 </a:t>
            </a:r>
            <a:r>
              <a:rPr lang="zh-CN" altLang="en-US" sz="1200" b="1"/>
              <a:t>部的顶级演员及其平均票房排名，体现演员对电影票房的影响力，为电影选角提供参考依据。</a:t>
            </a:r>
            <a:endParaRPr lang="zh-CN" altLang="en-US" sz="1200" b="1"/>
          </a:p>
        </p:txBody>
      </p:sp>
      <p:pic>
        <p:nvPicPr>
          <p:cNvPr id="16" name="图片 15" descr="post_object_image_2574530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944" y="915449"/>
            <a:ext cx="4956308" cy="2668146"/>
          </a:xfrm>
          <a:prstGeom prst="rect">
            <a:avLst/>
          </a:prstGeom>
        </p:spPr>
      </p:pic>
      <p:sp>
        <p:nvSpPr>
          <p:cNvPr id="18" name="MH_Title_1"/>
          <p:cNvSpPr/>
          <p:nvPr>
            <p:custDataLst>
              <p:tags r:id="rId8"/>
            </p:custDataLst>
          </p:nvPr>
        </p:nvSpPr>
        <p:spPr bwMode="auto">
          <a:xfrm>
            <a:off x="755015" y="-9525"/>
            <a:ext cx="3409950" cy="63627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47000">
                <a:schemeClr val="accent1"/>
              </a:gs>
              <a:gs pos="82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lIns="0" tIns="0" rIns="0" bIns="0" anchor="ctr">
            <a:norm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>
                <a:solidFill>
                  <a:srgbClr val="FFFFFF"/>
                </a:solidFill>
                <a:cs typeface="+mn-ea"/>
                <a:sym typeface="+mn-lt"/>
              </a:rPr>
              <a:t>代码展示</a:t>
            </a:r>
            <a:endParaRPr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19" name="图片 18" descr="post_object_image_35077434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0004" y="915413"/>
            <a:ext cx="3640027" cy="273002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56945" y="4083685"/>
            <a:ext cx="7530465" cy="939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/>
              <a:t>功能说明：该界面用于编写和执行</a:t>
            </a:r>
            <a:r>
              <a:rPr lang="en-US" altLang="zh-CN" b="1"/>
              <a:t> Python </a:t>
            </a:r>
            <a:r>
              <a:rPr lang="zh-CN" altLang="en-US" b="1"/>
              <a:t>代码，实现数据获取、探索、清洗、可视化与分析等功能。支持代码分段执行、实时查看运行结果，便于调试和修改代码，同时可添加文字注释，记录项目思路和代码说明。</a:t>
            </a:r>
            <a:endParaRPr lang="zh-CN" altLang="en-US" b="1"/>
          </a:p>
          <a:p>
            <a:pPr algn="ctr"/>
            <a:endParaRPr lang="zh-CN" altLang="en-US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340" y="609600"/>
            <a:ext cx="6824345" cy="352869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:blinds/>
      </p:transition>
    </mc:Choice>
    <mc:Fallback>
      <p:transition spd="slow" advTm="5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11" grpId="0"/>
      <p:bldP spid="11" grpId="1"/>
      <p:bldP spid="12" grpId="0"/>
      <p:bldP spid="12" grpId="1"/>
      <p:bldP spid="15" grpId="0"/>
      <p:bldP spid="36" grpId="1" animBg="1"/>
      <p:bldP spid="18" grpId="0" bldLvl="0" animBg="1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5"/>
          <p:cNvSpPr/>
          <p:nvPr/>
        </p:nvSpPr>
        <p:spPr bwMode="auto">
          <a:xfrm>
            <a:off x="4570598" y="3248189"/>
            <a:ext cx="863713" cy="937996"/>
          </a:xfrm>
          <a:custGeom>
            <a:avLst/>
            <a:gdLst>
              <a:gd name="T0" fmla="*/ 0 w 876"/>
              <a:gd name="T1" fmla="*/ 2147483647 h 952"/>
              <a:gd name="T2" fmla="*/ 0 w 876"/>
              <a:gd name="T3" fmla="*/ 2147483647 h 952"/>
              <a:gd name="T4" fmla="*/ 2147483647 w 876"/>
              <a:gd name="T5" fmla="*/ 2147483647 h 952"/>
              <a:gd name="T6" fmla="*/ 2147483647 w 876"/>
              <a:gd name="T7" fmla="*/ 0 h 952"/>
              <a:gd name="T8" fmla="*/ 2147483647 w 876"/>
              <a:gd name="T9" fmla="*/ 0 h 952"/>
              <a:gd name="T10" fmla="*/ 2147483647 w 876"/>
              <a:gd name="T11" fmla="*/ 2147483647 h 952"/>
              <a:gd name="T12" fmla="*/ 0 w 876"/>
              <a:gd name="T13" fmla="*/ 2147483647 h 9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6" h="952">
                <a:moveTo>
                  <a:pt x="0" y="30"/>
                </a:moveTo>
                <a:lnTo>
                  <a:pt x="0" y="492"/>
                </a:lnTo>
                <a:lnTo>
                  <a:pt x="876" y="952"/>
                </a:lnTo>
                <a:lnTo>
                  <a:pt x="712" y="0"/>
                </a:lnTo>
                <a:lnTo>
                  <a:pt x="378" y="0"/>
                </a:lnTo>
                <a:lnTo>
                  <a:pt x="422" y="252"/>
                </a:lnTo>
                <a:lnTo>
                  <a:pt x="0" y="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107"/>
          <p:cNvSpPr/>
          <p:nvPr/>
        </p:nvSpPr>
        <p:spPr bwMode="auto">
          <a:xfrm>
            <a:off x="3563987" y="3248189"/>
            <a:ext cx="866888" cy="937996"/>
          </a:xfrm>
          <a:custGeom>
            <a:avLst/>
            <a:gdLst>
              <a:gd name="T0" fmla="*/ 878 w 878"/>
              <a:gd name="T1" fmla="*/ 30 h 952"/>
              <a:gd name="T2" fmla="*/ 456 w 878"/>
              <a:gd name="T3" fmla="*/ 252 h 952"/>
              <a:gd name="T4" fmla="*/ 498 w 878"/>
              <a:gd name="T5" fmla="*/ 0 h 952"/>
              <a:gd name="T6" fmla="*/ 164 w 878"/>
              <a:gd name="T7" fmla="*/ 0 h 952"/>
              <a:gd name="T8" fmla="*/ 0 w 878"/>
              <a:gd name="T9" fmla="*/ 952 h 952"/>
              <a:gd name="T10" fmla="*/ 878 w 878"/>
              <a:gd name="T11" fmla="*/ 492 h 952"/>
              <a:gd name="T12" fmla="*/ 878 w 878"/>
              <a:gd name="T13" fmla="*/ 30 h 9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78" h="952">
                <a:moveTo>
                  <a:pt x="878" y="30"/>
                </a:moveTo>
                <a:lnTo>
                  <a:pt x="456" y="252"/>
                </a:lnTo>
                <a:lnTo>
                  <a:pt x="498" y="0"/>
                </a:lnTo>
                <a:lnTo>
                  <a:pt x="164" y="0"/>
                </a:lnTo>
                <a:lnTo>
                  <a:pt x="0" y="952"/>
                </a:lnTo>
                <a:lnTo>
                  <a:pt x="878" y="492"/>
                </a:lnTo>
                <a:lnTo>
                  <a:pt x="878" y="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chemeClr val="accent1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3854" y="598064"/>
            <a:ext cx="19706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测试目标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94198" y="1492426"/>
            <a:ext cx="19706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测试内容与方法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测试说明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27405" y="988377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200" i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</a:rPr>
              <a:t>验证数据处理的准确性（无遗漏、无错误转换）</a:t>
            </a:r>
            <a:endParaRPr lang="zh-CN" altLang="en-US" sz="1200" i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spcAft>
                <a:spcPct val="0"/>
              </a:spcAft>
              <a:buAutoNum type="arabicPeriod"/>
            </a:pPr>
            <a:r>
              <a:rPr lang="zh-CN" altLang="en-US" sz="1200" i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</a:rPr>
              <a:t>确保分析逻辑的合理性（统计方法、计算结果正确）</a:t>
            </a:r>
            <a:endParaRPr lang="zh-CN" altLang="en-US" sz="1200" i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spcAft>
                <a:spcPct val="0"/>
              </a:spcAft>
              <a:buAutoNum type="arabicPeriod"/>
            </a:pPr>
            <a:r>
              <a:rPr lang="zh-CN" altLang="en-US" sz="1200" i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</a:rPr>
              <a:t>保证可视化的有效性（图表清晰、数据映射无误）</a:t>
            </a:r>
            <a:endParaRPr lang="zh-CN" altLang="en-US" sz="1200" i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06780" y="1924050"/>
            <a:ext cx="5896610" cy="2112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数据测试：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缺失值处理后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budget/revenue/runtime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列无缺失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JSON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解析后，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genres_list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能正确提取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类型名称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lang="en-US" altLang="zh-CN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新特征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“year”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与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release_date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匹配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功能测试：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代码块无报错，可正常运行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相关系数计算正确（预算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-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票房相关系数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≈0.705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分组统计正确（如年度电影数量计算无误）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可视化测试：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图表坐标轴标签清晰（如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年份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电影数量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数据映射正确（如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顶级导演票房图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中，詹姆斯</a:t>
            </a:r>
            <a:r>
              <a:rPr lang="ja-JP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・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卡梅隆票房排名符合结果）</a:t>
            </a:r>
            <a:endParaRPr lang="zh-CN" altLang="en-US" sz="1200"/>
          </a:p>
        </p:txBody>
      </p:sp>
      <p:sp>
        <p:nvSpPr>
          <p:cNvPr id="42" name="文本框 41"/>
          <p:cNvSpPr txBox="1"/>
          <p:nvPr/>
        </p:nvSpPr>
        <p:spPr>
          <a:xfrm>
            <a:off x="906780" y="4444365"/>
            <a:ext cx="5984875" cy="633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图表坐标轴标签清晰（如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年份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电影数量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数据映射正确（如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顶级导演票房图</a:t>
            </a:r>
            <a:r>
              <a:rPr lang="en-US" altLang="zh-CN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 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中，詹姆斯</a:t>
            </a:r>
            <a:r>
              <a:rPr lang="ja-JP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・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卡梅隆票房排名符合计算结果）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1550" y="407416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可视化测试</a:t>
            </a:r>
            <a:endParaRPr lang="zh-CN" altLang="en-US" sz="1600" b="1"/>
          </a:p>
        </p:txBody>
      </p:sp>
    </p:spTree>
  </p:cSld>
  <p:clrMapOvr>
    <a:masterClrMapping/>
  </p:clrMapOvr>
  <p:transition spd="slow" advTm="7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3"/>
          <p:cNvSpPr/>
          <p:nvPr>
            <p:custDataLst>
              <p:tags r:id="rId1"/>
            </p:custDataLst>
          </p:nvPr>
        </p:nvSpPr>
        <p:spPr>
          <a:xfrm>
            <a:off x="426288" y="844066"/>
            <a:ext cx="258040" cy="25804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84AEF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3"/>
          <p:cNvSpPr/>
          <p:nvPr>
            <p:custDataLst>
              <p:tags r:id="rId2"/>
            </p:custDataLst>
          </p:nvPr>
        </p:nvSpPr>
        <p:spPr>
          <a:xfrm>
            <a:off x="498043" y="2254401"/>
            <a:ext cx="258040" cy="2580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84AEF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>
            <p:custDataLst>
              <p:tags r:id="rId3"/>
            </p:custDataLst>
          </p:nvPr>
        </p:nvSpPr>
        <p:spPr>
          <a:xfrm>
            <a:off x="511175" y="3508375"/>
            <a:ext cx="244475" cy="2368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84AEF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项目成果</a:t>
            </a:r>
            <a:endParaRPr lang="zh-CN" altLang="en-US" dirty="0"/>
          </a:p>
        </p:txBody>
      </p:sp>
      <p:sp>
        <p:nvSpPr>
          <p:cNvPr id="81" name="TextBox 1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>
            <a:off x="683895" y="1203960"/>
            <a:ext cx="5166360" cy="930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TMDB 5000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电影数据集说明文档》：记录数据集来源、字段含义、数据规模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《数据清洗日志》：记录缺失值处理、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JSON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解析、特征创建的关键步骤与原因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《代码注释文档》：对核心函数（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convert_json_column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get_director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）及关键代码块的详细注释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2" name="TextBox 1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flipH="1">
            <a:off x="755579" y="844033"/>
            <a:ext cx="1628775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过程文档成果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3" name="TextBox 1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>
            <a:off x="756285" y="2499995"/>
            <a:ext cx="6602095" cy="5829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1. 1970-2017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年电影数量变化趋势图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预算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-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票房散点图（相关系数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0.705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3.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最流行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15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种电影类型柱状图（剧情片居首）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顶级导演（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≥3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部作品）平均票房排名图（詹姆斯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・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卡梅隆、彼得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・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杰克逊等上榜）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4" name="Text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827334" y="2168068"/>
            <a:ext cx="1628775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可视化分析成果 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TextBox 1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827405" y="3833495"/>
            <a:ext cx="5837555" cy="9925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完整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Jupyter Notebook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代码文件：包含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数据加载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清洗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分析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可视化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全流程代码，共约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500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行（含注释）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可复用函数库：封装的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convert_json_column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JSON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解析）、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get_director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（导演提取）函数，可迁移至其他类似数据集分析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6" name="TextBox 1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>
            <a:off x="827264" y="3491983"/>
            <a:ext cx="1628775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代码结果  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7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24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896258" y="1385475"/>
            <a:ext cx="1040482" cy="10261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itchFamily="34" charset="-122"/>
              </a:rPr>
              <a:t>01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2411614"/>
            <a:ext cx="1474640" cy="196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4B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同心圆 3"/>
          <p:cNvSpPr/>
          <p:nvPr>
            <p:custDataLst>
              <p:tags r:id="rId3"/>
            </p:custDataLst>
          </p:nvPr>
        </p:nvSpPr>
        <p:spPr>
          <a:xfrm>
            <a:off x="698893" y="1203598"/>
            <a:ext cx="1423818" cy="1404156"/>
          </a:xfrm>
          <a:prstGeom prst="donut">
            <a:avLst>
              <a:gd name="adj" fmla="val 13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77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4979692" y="1786183"/>
            <a:ext cx="1040482" cy="10261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itchFamily="34" charset="-122"/>
              </a:rPr>
              <a:t>02</a:t>
            </a:r>
            <a:endParaRPr lang="zh-CN" altLang="en-US" sz="3600" dirty="0">
              <a:solidFill>
                <a:schemeClr val="tx1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1" y="2812303"/>
            <a:ext cx="5499933" cy="1961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4B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同心圆 7"/>
          <p:cNvSpPr/>
          <p:nvPr>
            <p:custDataLst>
              <p:tags r:id="rId6"/>
            </p:custDataLst>
          </p:nvPr>
        </p:nvSpPr>
        <p:spPr>
          <a:xfrm>
            <a:off x="4788024" y="1604306"/>
            <a:ext cx="1423818" cy="1404156"/>
          </a:xfrm>
          <a:prstGeom prst="donut">
            <a:avLst>
              <a:gd name="adj" fmla="val 138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77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3905269" y="3437703"/>
            <a:ext cx="1040482" cy="10261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itchFamily="34" charset="-122"/>
              </a:rPr>
              <a:t>03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3255844"/>
            <a:ext cx="4427984" cy="196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4B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同心圆 10"/>
          <p:cNvSpPr/>
          <p:nvPr>
            <p:custDataLst>
              <p:tags r:id="rId9"/>
            </p:custDataLst>
          </p:nvPr>
        </p:nvSpPr>
        <p:spPr>
          <a:xfrm flipV="1">
            <a:off x="3707904" y="3255826"/>
            <a:ext cx="1423818" cy="1404156"/>
          </a:xfrm>
          <a:prstGeom prst="donut">
            <a:avLst>
              <a:gd name="adj" fmla="val 13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77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 flipH="1">
            <a:off x="2181225" y="1714500"/>
            <a:ext cx="2596515" cy="11963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统一变量命名风格（如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movies_df“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数据框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+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用途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命名，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get_director“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动词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+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名词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函数命名）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复杂逻辑用函数封装（如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JSON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解析不重复写循环，而是封装为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convert_json_column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关键步骤加注释（如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将预算为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0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的值替换为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NaN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，视为缺失值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 flipH="1">
            <a:off x="2181064" y="1419622"/>
            <a:ext cx="1628775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代码规范 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TextBox 1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 flipH="1">
            <a:off x="6444208" y="2085844"/>
            <a:ext cx="2390946" cy="921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遵循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数据探索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数据清洗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分析建模</a:t>
            </a:r>
            <a:r>
              <a:rPr lang="en-US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可视化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CRISP-DM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数据分析流程，避免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“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先分析后补清洗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”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的混乱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每一步处理后验证结果（如清洗后用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df.info()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检查，避免后续分析偏差）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11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 flipH="1">
            <a:off x="6444214" y="1791096"/>
            <a:ext cx="1628775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开发流程规范  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extBox 1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 flipH="1">
            <a:off x="5397500" y="3732530"/>
            <a:ext cx="309626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预算与票房数据跨度达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10^9 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量级，直接绘图点重叠严重，改用对数坐标轴（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plt.xscale('log')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），清晰展示相关性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TextBox 11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 flipH="1">
            <a:off x="5397500" y="3437890"/>
            <a:ext cx="2711450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数据跨度大可视化问题    </a:t>
            </a:r>
            <a:endParaRPr lang="en-US" altLang="zh-CN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项目心得及收获</a:t>
            </a:r>
            <a:endParaRPr lang="zh-CN" altLang="en-US" dirty="0"/>
          </a:p>
        </p:txBody>
      </p:sp>
    </p:spTree>
  </p:cSld>
  <p:clrMapOvr>
    <a:masterClrMapping/>
  </p:clrMapOvr>
  <p:transition spd="slow" advTm="7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5"/>
          <p:cNvSpPr txBox="1">
            <a:spLocks noChangeArrowheads="1"/>
          </p:cNvSpPr>
          <p:nvPr/>
        </p:nvSpPr>
        <p:spPr bwMode="auto">
          <a:xfrm>
            <a:off x="2608145" y="4371950"/>
            <a:ext cx="3927709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汇报人：第三小组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  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2025.9.12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-45524" y="163346"/>
            <a:ext cx="660073" cy="56902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695" y="1797685"/>
            <a:ext cx="7289165" cy="2287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17000" kern="100">
                <a:blipFill>
                  <a:blip r:embed="rId1"/>
                  <a:stretch>
                    <a:fillRect/>
                  </a:stretch>
                </a:blipFill>
                <a:latin typeface="Impact" panose="020B0806030902050204" pitchFamily="34" charset="0"/>
                <a:ea typeface="华康简综艺" panose="0201060900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00" cap="none" spc="600" normalizeH="0" baseline="0" noProof="0" dirty="0">
                <a:ln>
                  <a:noFill/>
                </a:ln>
                <a:blipFill>
                  <a:blip r:embed="rId1"/>
                  <a:stretch>
                    <a:fillRect/>
                  </a:stretch>
                </a:blipFill>
                <a:effectLst/>
                <a:uLnTx/>
                <a:uFillTx/>
                <a:latin typeface="Impact" panose="020B0806030902050204" pitchFamily="34" charset="0"/>
                <a:ea typeface="华康简综艺" panose="02010609000101010101" pitchFamily="49" charset="-122"/>
                <a:cs typeface="+mn-cs"/>
                <a:sym typeface="+mn-lt"/>
              </a:rPr>
              <a:t>演示完毕</a:t>
            </a:r>
            <a:r>
              <a:rPr kumimoji="0" lang="en-US" altLang="zh-CN" sz="6000" b="0" i="0" u="none" strike="noStrike" kern="100" cap="none" spc="600" normalizeH="0" baseline="0" noProof="0" dirty="0">
                <a:ln>
                  <a:noFill/>
                </a:ln>
                <a:blipFill>
                  <a:blip r:embed="rId1"/>
                  <a:stretch>
                    <a:fillRect/>
                  </a:stretch>
                </a:blipFill>
                <a:effectLst/>
                <a:uLnTx/>
                <a:uFillTx/>
                <a:latin typeface="Impact" panose="020B0806030902050204" pitchFamily="34" charset="0"/>
                <a:ea typeface="华康简综艺" panose="02010609000101010101" pitchFamily="49" charset="-122"/>
                <a:cs typeface="+mn-cs"/>
                <a:sym typeface="+mn-lt"/>
              </a:rPr>
              <a:t> </a:t>
            </a:r>
            <a:r>
              <a:rPr kumimoji="0" lang="zh-CN" altLang="en-US" sz="6000" b="0" i="0" u="none" strike="noStrike" kern="100" cap="none" spc="600" normalizeH="0" baseline="0" noProof="0" dirty="0">
                <a:ln>
                  <a:noFill/>
                </a:ln>
                <a:blipFill>
                  <a:blip r:embed="rId1"/>
                  <a:stretch>
                    <a:fillRect/>
                  </a:stretch>
                </a:blipFill>
                <a:effectLst/>
                <a:uLnTx/>
                <a:uFillTx/>
                <a:latin typeface="Impact" panose="020B0806030902050204" pitchFamily="34" charset="0"/>
                <a:ea typeface="华康简综艺" panose="02010609000101010101" pitchFamily="49" charset="-122"/>
                <a:cs typeface="+mn-cs"/>
                <a:sym typeface="+mn-lt"/>
              </a:rPr>
              <a:t>谢谢观看</a:t>
            </a:r>
            <a:endParaRPr kumimoji="0" lang="zh-CN" altLang="en-US" sz="6000" b="0" i="0" u="none" strike="noStrike" kern="100" cap="none" spc="600" normalizeH="0" baseline="0" noProof="0" dirty="0">
              <a:ln>
                <a:noFill/>
              </a:ln>
              <a:blipFill>
                <a:blip r:embed="rId1"/>
                <a:stretch>
                  <a:fillRect/>
                </a:stretch>
              </a:blipFill>
              <a:effectLst/>
              <a:uLnTx/>
              <a:uFillTx/>
              <a:latin typeface="Impact" panose="020B0806030902050204" pitchFamily="34" charset="0"/>
              <a:ea typeface="华康简综艺" panose="0201060900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>
        <p14:vortex dir="r"/>
      </p:transition>
    </mc:Choice>
    <mc:Fallback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ldLvl="0" animBg="1"/>
      <p:bldP spid="13" grpId="0"/>
      <p:bldP spid="13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2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3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4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5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6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7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8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9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10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11.xml><?xml version="1.0" encoding="utf-8"?>
<p:tagLst xmlns:p="http://schemas.openxmlformats.org/presentationml/2006/main">
  <p:tag name="KSO_WM_DIAGRAM_VIRTUALLY_FRAME" val="{&quot;height&quot;:266.5018031851645,&quot;left&quot;:-20.709217892121888,&quot;top&quot;:20.362797168111136,&quot;width&quot;:659.1969847675881}"/>
</p:tagLst>
</file>

<file path=ppt/tags/tag12.xml><?xml version="1.0" encoding="utf-8"?>
<p:tagLst xmlns:p="http://schemas.openxmlformats.org/presentationml/2006/main">
  <p:tag name="TABLE_ENDDRAG_ORIGIN_RECT" val="347*324"/>
  <p:tag name="TABLE_ENDDRAG_RECT" val="388*132*347*324"/>
  <p:tag name="TABLE_AUTOADJUST_FLAG" val="1"/>
</p:tagLst>
</file>

<file path=ppt/tags/tag13.xml><?xml version="1.0" encoding="utf-8"?>
<p:tagLst xmlns:p="http://schemas.openxmlformats.org/presentationml/2006/main">
  <p:tag name="TABLE_ENDDRAG_ORIGIN_RECT" val="334*346"/>
  <p:tag name="TABLE_ENDDRAG_RECT" val="125*58*334*346"/>
  <p:tag name="TABLE_AUTOADJUST_FLAG" val="1"/>
</p:tagLst>
</file>

<file path=ppt/tags/tag14.xml><?xml version="1.0" encoding="utf-8"?>
<p:tagLst xmlns:p="http://schemas.openxmlformats.org/presentationml/2006/main">
  <p:tag name="TABLE_ENDDRAG_ORIGIN_RECT" val="236*344"/>
  <p:tag name="TABLE_ENDDRAG_RECT" val="462*55*236*344"/>
  <p:tag name="TABLE_AUTOADJUST_FLAG" val="1"/>
</p:tagLst>
</file>

<file path=ppt/tags/tag15.xml><?xml version="1.0" encoding="utf-8"?>
<p:tagLst xmlns:p="http://schemas.openxmlformats.org/presentationml/2006/main">
  <p:tag name="TABLE_ENDDRAG_ORIGIN_RECT" val="577*309"/>
  <p:tag name="TABLE_ENDDRAG_RECT" val="70*71*577*309"/>
</p:tagLst>
</file>

<file path=ppt/tags/tag16.xml><?xml version="1.0" encoding="utf-8"?>
<p:tagLst xmlns:p="http://schemas.openxmlformats.org/presentationml/2006/main">
  <p:tag name="KSO_WM_DIAGRAM_VIRTUALLY_FRAME" val="{&quot;height&quot;:307.2232299469494,&quot;left&quot;:71.50393700787401,&quot;top&quot;:72.0755905511811,&quot;width&quot;:572.6620472440944}"/>
</p:tagLst>
</file>

<file path=ppt/tags/tag17.xml><?xml version="1.0" encoding="utf-8"?>
<p:tagLst xmlns:p="http://schemas.openxmlformats.org/presentationml/2006/main">
  <p:tag name="MH" val="20160524101812"/>
  <p:tag name="MH_LIBRARY" val="GRAPHIC"/>
  <p:tag name="MH_TYPE" val="Other"/>
  <p:tag name="MH_ORDER" val="3"/>
  <p:tag name="KSO_WM_DIAGRAM_VIRTUALLY_FRAME" val="{&quot;height&quot;:307.2232299469494,&quot;left&quot;:71.50393700787401,&quot;top&quot;:72.0755905511811,&quot;width&quot;:572.6620472440944}"/>
</p:tagLst>
</file>

<file path=ppt/tags/tag18.xml><?xml version="1.0" encoding="utf-8"?>
<p:tagLst xmlns:p="http://schemas.openxmlformats.org/presentationml/2006/main">
  <p:tag name="MH" val="20160524101812"/>
  <p:tag name="MH_LIBRARY" val="GRAPHIC"/>
  <p:tag name="MH_TYPE" val="Other"/>
  <p:tag name="MH_ORDER" val="4"/>
  <p:tag name="KSO_WM_DIAGRAM_VIRTUALLY_FRAME" val="{&quot;height&quot;:307.2232299469494,&quot;left&quot;:71.50393700787401,&quot;top&quot;:72.0755905511811,&quot;width&quot;:572.6620472440944}"/>
</p:tagLst>
</file>

<file path=ppt/tags/tag19.xml><?xml version="1.0" encoding="utf-8"?>
<p:tagLst xmlns:p="http://schemas.openxmlformats.org/presentationml/2006/main">
  <p:tag name="MH" val="20160524101812"/>
  <p:tag name="MH_LIBRARY" val="GRAPHIC"/>
  <p:tag name="MH_TYPE" val="Other"/>
  <p:tag name="MH_ORDER" val="12"/>
  <p:tag name="KSO_WM_DIAGRAM_VIRTUALLY_FRAME" val="{&quot;height&quot;:307.2232299469494,&quot;left&quot;:71.50393700787401,&quot;top&quot;:72.0755905511811,&quot;width&quot;:572.6620472440944}"/>
</p:tagLst>
</file>

<file path=ppt/tags/tag20.xml><?xml version="1.0" encoding="utf-8"?>
<p:tagLst xmlns:p="http://schemas.openxmlformats.org/presentationml/2006/main">
  <p:tag name="MH" val="20160524111011"/>
  <p:tag name="MH_LIBRARY" val="GRAPHIC"/>
  <p:tag name="MH_TYPE" val="Title"/>
  <p:tag name="MH_ORDER" val="1"/>
</p:tagLst>
</file>

<file path=ppt/tags/tag21.xml><?xml version="1.0" encoding="utf-8"?>
<p:tagLst xmlns:p="http://schemas.openxmlformats.org/presentationml/2006/main">
  <p:tag name="MH" val="20160524111011"/>
  <p:tag name="MH_LIBRARY" val="GRAPHIC"/>
  <p:tag name="MH_TYPE" val="Title"/>
  <p:tag name="MH_ORDER" val="1"/>
</p:tagLst>
</file>

<file path=ppt/tags/tag22.xml><?xml version="1.0" encoding="utf-8"?>
<p:tagLst xmlns:p="http://schemas.openxmlformats.org/presentationml/2006/main">
  <p:tag name="MH_TYPE" val="#NeiR#"/>
  <p:tag name="MH_NUMBER" val="4"/>
  <p:tag name="MH_CATEGORY" val="#YinZJG#"/>
  <p:tag name="MH_LAYOUT" val="TitleSubTitle"/>
  <p:tag name="MH" val="20160524111011"/>
  <p:tag name="MH_LIBRARY" val="GRAPHIC"/>
</p:tagLst>
</file>

<file path=ppt/tags/tag23.xml><?xml version="1.0" encoding="utf-8"?>
<p:tagLst xmlns:p="http://schemas.openxmlformats.org/presentationml/2006/main">
  <p:tag name="KSO_WM_DIAGRAM_VIRTUALLY_FRAME" val="{&quot;height&quot;:229.1792913385827,&quot;left&quot;:72.04937007874015,&quot;top&quot;:100.44165354330707,&quot;width&quot;:577.1170866141732}"/>
</p:tagLst>
</file>

<file path=ppt/tags/tag24.xml><?xml version="1.0" encoding="utf-8"?>
<p:tagLst xmlns:p="http://schemas.openxmlformats.org/presentationml/2006/main">
  <p:tag name="KSO_WM_DIAGRAM_VIRTUALLY_FRAME" val="{&quot;height&quot;:229.1792913385827,&quot;left&quot;:72.04937007874015,&quot;top&quot;:100.44165354330707,&quot;width&quot;:577.1170866141732}"/>
</p:tagLst>
</file>

<file path=ppt/tags/tag25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26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27.xml><?xml version="1.0" encoding="utf-8"?>
<p:tagLst xmlns:p="http://schemas.openxmlformats.org/presentationml/2006/main">
  <p:tag name="KSO_WM_DIAGRAM_VIRTUALLY_FRAME" val="{&quot;height&quot;:292.11062992125983,&quot;left&quot;:59.49417322834647,&quot;top&quot;:77.76188976377952,&quot;width&quot;:613.5075590551181}"/>
</p:tagLst>
</file>

<file path=ppt/tags/tag28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29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30.xml><?xml version="1.0" encoding="utf-8"?>
<p:tagLst xmlns:p="http://schemas.openxmlformats.org/presentationml/2006/main">
  <p:tag name="KSO_WM_DIAGRAM_VIRTUALLY_FRAME" val="{&quot;height&quot;:292.11062992125983,&quot;left&quot;:59.49417322834647,&quot;top&quot;:77.76188976377952,&quot;width&quot;:613.5075590551181}"/>
</p:tagLst>
</file>

<file path=ppt/tags/tag31.xml><?xml version="1.0" encoding="utf-8"?>
<p:tagLst xmlns:p="http://schemas.openxmlformats.org/presentationml/2006/main">
  <p:tag name="KSO_WM_DIAGRAM_VIRTUALLY_FRAME" val="{&quot;height&quot;:292.11062992125983,&quot;left&quot;:59.49417322834647,&quot;top&quot;:77.76188976377952,&quot;width&quot;:613.5075590551181}"/>
</p:tagLst>
</file>

<file path=ppt/tags/tag32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33.xml><?xml version="1.0" encoding="utf-8"?>
<p:tagLst xmlns:p="http://schemas.openxmlformats.org/presentationml/2006/main">
  <p:tag name="KSO_WM_DIAGRAM_VIRTUALLY_FRAME" val="{&quot;height&quot;:313.54070866141734,&quot;left&quot;:33.56598425196849,&quot;top&quot;:66.45929133858267,&quot;width&quot;:639.4357480314962}"/>
</p:tagLst>
</file>

<file path=ppt/tags/tag34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35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36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37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38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39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0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1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2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3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4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5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6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7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8.xml><?xml version="1.0" encoding="utf-8"?>
<p:tagLst xmlns:p="http://schemas.openxmlformats.org/presentationml/2006/main">
  <p:tag name="KSO_WM_DIAGRAM_VIRTUALLY_FRAME" val="{&quot;height&quot;:272.1562204724409,&quot;left&quot;:0,&quot;top&quot;:94.77149606299213,&quot;width&quot;:695.6814173228347}"/>
</p:tagLst>
</file>

<file path=ppt/tags/tag49.xml><?xml version="1.0" encoding="utf-8"?>
<p:tagLst xmlns:p="http://schemas.openxmlformats.org/presentationml/2006/main">
  <p:tag name="ISPRING_ULTRA_SCORM_COURSE_ID" val="2EC4DC15-A396-4581-A4FC-04D06BA280AB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CqGsU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qhrFI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CqGsUi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KoaxSC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KoaxSG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KoaxSD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KoaxSJ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KoaxSL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K4axSAXZichKDQAA1SEAABcAAAB1bml2ZXJzYWwvdW5pdmVyc2FsLnBuZ+2a+VdS6/rAqdNpVvNU15xLvXmuOZQnp+NAmROna6UNZk61zLxhgqhoKGLTdUiJopaWiZ6sk+KAqZm6EbBDSR5E6jig4lBxFAXBgRAVkbupzr1r3fVd3z/gLn5gb57ns9/9Ps+73+d5n/1C7rEj/jobjTZCIBAdWIBPMASyBgaBfINcvxbU7Gq6MQGeViUF+3tDKF0mk6CwJvZg4EEIpI6wafnct6C8ISEgNAkC0WVqPqtYyIrzYDs4zOfgicuRkuGjebbyAdYHWdHc6rnV9Trn9ev1U78jntz8/fe7cy7o5+8MWPOuevNPOectLV79c+3W9Tt8bm8pM1Zf+Vn69/0bVNjpLpn7IulHxafSBxc9jydtD/9UTKmUUkRSt4hSSmVL3YMsLlSNla0op5EjGYrhmqZRnDFo0lknP1nFSpDpeTOEH1EPuvyMZKjR1lRm558zhnmpPnWneIOKK41V9vV4qyjsrK/7KlBuQwdl/OFner0bvwaUmu0rCUML4ij14K1/ixN+4DdIuIvFBvB0IMdKI+0iao43AlaDxy1aoAVaoAVaoAVaoAVaoAVaoAVaoAVaoAVaoAVa8L8HUAJz9QJLs2X6HtgK02i8rTRbiuvvaPYOd/p8p9lu3PL/g4/hd/5o4HrxWz/9fvihdSk2UfbGknAJtywwH0WJUL2CKlYooSlMF7yyDzmSJXlhXnszbXmsiaGSBPFbnOI5P4xPI5SVFazM3yTLjy07/M0znmNmXq7jr0svr2SFEahhZpqmYppihBrNGGLkDHbVxIgLMKe6wxvjFw71JKW9mTMXTwTMDSVxG/VmjoSALUryljhIXEMvPgxQryhdpulKaTxP/UEvs99j9tXWMK6Xcipe4EZqGkkTjwOZi2OFSEMXqIPTsAfiFHfgvlRAgNJjhppX3grl1bw3MUMs+qRZxqd3JDYmKInGyFc/mbJbC2nzkscsGn3TMdP5A/c527PqIoDh/VzCZ4/s+jgRkHhy0wlPKQJjX+bszJjFIy+5eFBnD6eOZijieSfPksVx11ux4rDRwUj7csF++HCICRm9wjRfmbnwPXnLvpK8OdI0VtjZdlLWG8MJ68aj5EDFzDFBO1fWSpI6JRoq6uKAM32AKs2Ot4ChsxNFnm9FLyQam6rpAelTdaxBLiHudztl9cPYQJEbvdMhkHDLavg6YAOMudUOVlTje4FqfBeiKDT+bKrxs0ZhW+u5M03oNxIUqnFE+P5YetCJHeTSwl2Prp32DJEn/bNmthj/xvFpFY/Z31BRxmzlsVwYixzn55tjaX5d6eaNmwXCiO5eRwJPRrboCKlbN0ie/8s3kPfwSs9bVC4+rvuzIfGiFmmBysOHmGSU/VcTIye4ZfrIW888Txj9R3mxbSn15gZ0S36IXNbPfuzdnrNtu3H7/phWM5sDtoqN5MzpNAQ3DV+s8BIJ00jSh4hXxEWAPX9y6mrKTdprCKS5SBS+fTi23UlUkNnHaXButEsIFVrrw+z/celZiuCCPFC1HIgrd+5kjWwsjlQM4QPqN6+Vyxz339un2otoeIiLuuEqdkp8p3RNBjII0xaAQvC3ZIUOpE0enB1ZvehhdXj4x/toWXWQaUq3nbrOh7jJyLh6uHkg0RJ9yrjdKXLnIhzNHeYZwgC+g0XHB0C5FvI+LVSW+5P7l3YnVQ8ECFOTQ1YtP9e9HMQbi7bcbHhKPhAsvDbR5fvyYu+uH5LuF3FhwTzCIfhv2CPE0ECobsjfBNhd6OHmmnM8N1gKzc8+zTz7iDUYxgm9tNl2Y4nwlZO4jwmOK2cEK+OkeJqI4vKs2B/eogze2XF9Tb+D2VwplpefjGOmF+9NOo1oTTRqLNnzl3zh05I8fW8b7x5ZsH7cjWr9QFHiqxuYEoDk5nXi/n1haNbNATrvDUb6OLKQ5VHgbkdsnfttj0ROxVl/GZAEEaPicrmo77WmZ/ulQgdf4qZKna66WUzB2CNdpmvnhYujEhQGHsH7YBvjc2cf5ddXO0LSkfli4damW1ccnz4spervFy0BQ9t3ijDTFAchjQBw9CN1MbZUb44veprV0OPQyFCrpmPpCi5A/9rpHagiLOqtnUoUwgDc6F57uAKcgjoaj1tkRyFws3lRUzTS3LKMO9qKX8KUlPfE9zYD4bf45WEGDYiSDFFdj2MXD886zQ5SU8YqMlPh2BrGEiaS8AuiiVLLVck8DgtDDZi+XUctiBBrHs3cXZ43I+NC1erUFQnDYJx9JHUUAqmOIuWVKbGXKxqy9DeKkkShTD6SQVOkiA63GUG9xPaKy4vvr+u94BEgqHxERieAmTdkmtjYhHfy8A7O1EftIQcqHxVgbJHf3jVqX+p36lH17heiR2R3c6zaOkC3z/GeFSPoU5/9BWiyLndJLDO6Z6/z0OHXdxYBfdi4jmKjUSluaXJ+Sd8Ffh8ZO8nNXJGlFGEc8EVNWRv/KnueLerrAB9K6b6eOby466ZVNDa28zg74tF5n7KYzUbiVB7gTkiLTxafN7izxrVFqnKdMmpfkNZ3D7tAIOIUw0zO06yxtUv91Mc4qQUMI2nkgb4kHGNSdFR1qa9NfPxuT+oy3XyajlwY9lB2Mk+Py3yIjn2C+7gWXTbZAkZzBtD1eQGri8MVOJMUnWhs6sCk1BhyBS32MjCryhq8X4uXO370lyweEwjxC4NvHNgX2yXJTJO17SPWAuxuSwtbvZduJ77cvecY+wyhpqB2ftl1D9E2O2Zix7mKLAz33gDYz2Rfh71Fh26mkj/qfNRT3jP/7b4qMTzcRS+B+l8u9WXYe/SFMl0nJ/pzzK8+zrq5Du1FHPQrRpZTavGqgdbCNzl70KGyvmPZj/NnWV8Hz0iEIoxRxjz2EDvZofCWcX6RXgN5VtZ80Cp3LGGiOW+ioPz4qieR1dCFl3rOUOUA15kAXVmwM8MtfOB4KoYaSH62V1Vg+ngWt0NA/Tpx+JYEj99xzh5+OrISK8s1m6MtcVP6jtdeOq7veYY8lOn1aNK158Kiwdlb72ruhrpwvZzyx3YIg8iZvL19nAWFR1T56sM6lns5wmjD9iXaVEBwLR5BmrIg2mLnOqwfmqsm/Plbgh16GjxUn7r5F+GDReVUu/eMzzacPuISlaLJRmeHIzPkvfMNH/bB+xuv0vOtYkx2NyyLnbMvTXDTnxSj1//2CEA7iscHyrPqTGQlO51MtsLgekVG8EE3XfwhfNZxX+LXqXP+0fy2FnA5Hdz7O/liXIn0xRW1aIRACvqDtZdgrDYrJEnpqyCnGWAVUK8Cg8UoJf7n1DvnTWyOM9evc0rO5tsi06cOBjMTkfei0eJoMFcf1ZFFU+JH99ladrTmH/K9fQbaaP+TKlyWP0Zp24+gFlsQe+LKwsyVOVZ3wdU6Ln0Hx/HGlIw2nYGUfcxzQKzMFTISXrfO/LqJz6x0DVNdE484sCZGCLHkqNuPT6QK/swhSxnzA7FCr9mLZLwsoq7MaytvP5tx4LixCq3KsZbLQscXbYzyxf4HXGu/BC+Z1Rhuju4PjIDOrybPRhsWwIvOgNfNzRSh3BvtPCnGYkXZy39U8LxpuwF5HSHAkby1vs8toED/SckQLyozowoXeUs9eTQTwEw8yh7EJ0ixETvenxpWju0YVqIKl345xbCiov6dVWe63Kefl+rzKJ8zVmO6jOPCR6Nyau2IWFNg7EGGWjk6isvzXHe7MpKNFwGIkqcpgkVpKiOdnxyuE7HtzxvPbvu89CxdnvylcJCbG9dXkw1OqCJwYiZJ0lzvBTi2KKVUZK75L/wKe/YkXSVBNnWjhOIySJPoy6iVv9WEDo8dTfDsw50Kr0KYgmPRV7lSxMHoNRj6EHMDEj3RQVfC0NOF0cnTrOMTmhAXjz0meAFvF2GUoi/Xi8BKLY73cp8PEZbaHEi6fr4liObhkMuMp7yw35hQJVUl5td+hJIBgmauNONExdv+s3T7IVtn/ajLrO9gu+XlWOrWppUVBYPRcjAC6sDi5YaJj67iGo+Em/7pMzr8rKKk9e8GnvNbwFyzaON1fWQDEFMKrrmcGMQmE1MYRYQ4nI1lL7OgKyjqweb8ncohNC/iYZR6iSdZ65r6AqqaPNr07SoEepqmeAF6VZxWyAIkX02jw2vVUpngTI+bKzBW0rt/uDUuiItqGhKik61aKp2kb+s/tX2jd0kT/c5ZyV9DL1O00HZ82fpkE8aQZbYa8swrDgrt2MVviRt5PL4tqsAMtOlj3tT97QrNj//cwLm7pctP8BbM7qNQGunp0xoMwAeL9Pfik1EVNfvumQAkat+xE+zkmw6HwRJu7MTo+tJfMfQYykSQ0JrM3CxKNAzArchKkXqHKlCrwbq+jSSxiWeafeyXDInpyyzXEKsWe03sczTPSNXd1gBQ2tEyTdUecvf/ehsoVS/Huq/+/DpQ4ZUoYDswLvlrxHCDXn/EshCqvvgf8ZJj/8PP/zCgVOb1PMNbOS2Lo9Rwa43qdJVoV3SzIQy+oGCoaYtgpA4+0HTQV7bkj76t1nnIUa/KjXsT7L356opGD/M94kPxPnvtX1BLAwQUAAIACAArhrFIKwvAbUoAAABrAAAAGwAAAHVuaXZlcnNhbC91bml2ZXJzYWwucG5nLnhtbLOxr8jNUShLLSrOzM+zVTLUM1Cyt+PlsikoSi3LTC1XqACKGekZQICSQiUqtzwzpSQDKGRgbowQzEjNTM8osVWyMDCFC+oDzQQAUEsBAgAAFAACAAgAKoaxSBUOrShkBAAABxEAAB0AAAAAAAAAAQAAAAAAAAAAAHVuaXZlcnNhbC9jb21tb25fbWVzc2FnZXMubG5nUEsBAgAAFAACAAgAKoaxSAh+CyMpAwAAhgwAACcAAAAAAAAAAQAAAAAAnwQAAHVuaXZlcnNhbC9mbGFzaF9wdWJsaXNoaW5nX3NldHRpbmdzLnhtbFBLAQIAABQAAgAIACqGsUi1/AlkugIAAFUKAAAhAAAAAAAAAAEAAAAAAA0IAAB1bml2ZXJzYWwvZmxhc2hfc2tpbl9zZXR0aW5ncy54bWxQSwECAAAUAAIACAAqhrFIKpYPZ/4CAACXCwAAJgAAAAAAAAABAAAAAAAGCwAAdW5pdmVyc2FsL2h0bWxfcHVibGlzaGluZ19zZXR0aW5ncy54bWxQSwECAAAUAAIACAAqhrFIaHFSkZoBAAAfBgAAHwAAAAAAAAABAAAAAABIDgAAdW5pdmVyc2FsL2h0bWxfc2tpbl9zZXR0aW5ncy5qc1BLAQIAABQAAgAIACqGsUg9PC/RwQAAAOUBAAAaAAAAAAAAAAEAAAAAAB8QAAB1bml2ZXJzYWwvaTE4bl9wcmVzZXRzLnhtbFBLAQIAABQAAgAIACqGsUia+ZZkawAAAGsAAAAcAAAAAAAAAAEAAAAAABgRAAB1bml2ZXJzYWwvbG9jYWxfc2V0dGluZ3MueG1sUEsBAgAAFAACAAgARJRXRyO0Tvv7AgAAsAgAABQAAAAAAAAAAQAAAAAAvREAAHVuaXZlcnNhbC9wbGF5ZXIueG1sUEsBAgAAFAACAAgAKoaxSLCHI/RsAQAA9wIAACkAAAAAAAAAAQAAAAAA6hQAAHVuaXZlcnNhbC9za2luX2N1c3RvbWl6YXRpb25fc2V0dGluZ3MueG1sUEsBAgAAFAACAAgAK4axSAXZichKDQAA1SEAABcAAAAAAAAAAAAAAAAAnRYAAHVuaXZlcnNhbC91bml2ZXJzYWwucG5nUEsBAgAAFAACAAgAK4axSCsLwG1KAAAAawAAABsAAAAAAAAAAQAAAAAAHCQAAHVuaXZlcnNhbC91bml2ZXJzYWwucG5nLnhtbFBLBQYAAAAACwALAEkDAACfJAAAAAA="/>
  <p:tag name="ISPRING_PRESENTATION_TITLE" val="323323"/>
  <p:tag name="KSO_WPP_MARK_KEY" val="ce02bfe0-6ca9-4e6d-a068-caee691cf515"/>
  <p:tag name="COMMONDATA" val="eyJoZGlkIjoiZjAxMTJhOTdhYmExNjczZmFmMDgzNzk2N2NkOGE2YTMifQ=="/>
</p:tagLst>
</file>

<file path=ppt/theme/theme1.xml><?xml version="1.0" encoding="utf-8"?>
<a:theme xmlns:a="http://schemas.openxmlformats.org/drawingml/2006/main" name="www.2ppt.com">
  <a:themeElements>
    <a:clrScheme name="自定义 9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70C0"/>
      </a:accent1>
      <a:accent2>
        <a:srgbClr val="00B0F0"/>
      </a:accent2>
      <a:accent3>
        <a:srgbClr val="F69200"/>
      </a:accent3>
      <a:accent4>
        <a:srgbClr val="92D050"/>
      </a:accent4>
      <a:accent5>
        <a:srgbClr val="FF0000"/>
      </a:accent5>
      <a:accent6>
        <a:srgbClr val="C00000"/>
      </a:accent6>
      <a:hlink>
        <a:srgbClr val="0070C0"/>
      </a:hlink>
      <a:folHlink>
        <a:srgbClr val="7030A0"/>
      </a:folHlink>
    </a:clrScheme>
    <a:fontScheme name="微软雅黑和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3996</Words>
  <Application>WPS 演示</Application>
  <PresentationFormat>全屏显示(16:9)</PresentationFormat>
  <Paragraphs>303</Paragraphs>
  <Slides>9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微软雅黑</vt:lpstr>
      <vt:lpstr>Impact</vt:lpstr>
      <vt:lpstr>华康简综艺</vt:lpstr>
      <vt:lpstr>Arial Narrow</vt:lpstr>
      <vt:lpstr>Calibri</vt:lpstr>
      <vt:lpstr>华文楷体</vt:lpstr>
      <vt:lpstr>Arial</vt:lpstr>
      <vt:lpstr>Arial Unicode MS</vt:lpstr>
      <vt:lpstr>Arial Unicode MS</vt:lpstr>
      <vt:lpstr>MS PGothic</vt:lpstr>
      <vt:lpstr>汉仪综艺体简</vt:lpstr>
      <vt:lpstr>Wonder Arial</vt:lpstr>
      <vt:lpstr>www.2ppt.com</vt:lpstr>
      <vt:lpstr>自定义设计方案</vt:lpstr>
      <vt:lpstr>PowerPoint 演示文稿</vt:lpstr>
      <vt:lpstr>一、项目介绍及使用技术</vt:lpstr>
      <vt:lpstr>二、人员分工及项目开发计划</vt:lpstr>
      <vt:lpstr>三、需求分析、图表与原型设计</vt:lpstr>
      <vt:lpstr>PowerPoint 演示文稿</vt:lpstr>
      <vt:lpstr>测试说明</vt:lpstr>
      <vt:lpstr>项目成果</vt:lpstr>
      <vt:lpstr>项目心得及收获</vt:lpstr>
      <vt:lpstr>PowerPoint 演示文稿</vt:lpstr>
    </vt:vector>
  </TitlesOfParts>
  <Company>www.2ppt.com-爱PPT提供免费下载</Company>
  <LinksUpToDate>false</LinksUpToDate>
  <SharedDoc>false</SharedDoc>
  <HyperlinksChanged>false</HyperlinksChanged>
  <AppVersion>14.0000</AppVersion>
  <Manager>www.2ppt.com-爱PPT提供免费下载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www.2ppt.com-爱PPT提供免费下载</dc:title>
  <dc:creator>www.2ppt.com-爱PPT提供免费下载</dc:creator>
  <cp:keywords>www.2ppt.com-爱PPT提供免费下载</cp:keywords>
  <dc:description>www.2ppt.com-爱PPT提供免费下载</dc:description>
  <dc:subject>www.2ppt.com-爱PPT提供免费下载</dc:subject>
  <cp:category>www.2ppt.com-爱PPT提供免费下载</cp:category>
  <cp:lastModifiedBy>L.6-9016</cp:lastModifiedBy>
  <cp:revision>6</cp:revision>
  <dcterms:created xsi:type="dcterms:W3CDTF">2025-09-11T14:01:00Z</dcterms:created>
  <dcterms:modified xsi:type="dcterms:W3CDTF">2025-09-12T03:11:51Z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B973CDC0D6484D7ABF6D697B2D913E43_12</vt:lpwstr>
  </property>
  <property fmtid="{D5CDD505-2E9C-101B-9397-08002B2CF9AE}" pid="3" name="KSOProductBuildVer">
    <vt:lpwstr>2052-12.1.0.21915</vt:lpwstr>
  </property>
</Properties>
</file>